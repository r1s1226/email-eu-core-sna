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7578C-8A03-4FFC-A6F0-0029C22226C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3FFBA5-1DE7-484C-BC8E-2B230455CA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1949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안녕하세요</a:t>
            </a:r>
            <a:r>
              <a:rPr lang="en-US" altLang="ko-KR"/>
              <a:t>. </a:t>
            </a:r>
            <a:r>
              <a:rPr lang="ko-KR" altLang="en-US"/>
              <a:t>저희 팀을 대표해 발표하겠습니다</a:t>
            </a:r>
            <a:r>
              <a:rPr lang="en-US" altLang="ko-KR"/>
              <a:t>. </a:t>
            </a:r>
            <a:r>
              <a:rPr lang="ko-KR" altLang="en-US"/>
              <a:t>저희는 유럽의 한 연구기관 구성원들이 주고받은 이메일 네트워크로</a:t>
            </a:r>
            <a:r>
              <a:rPr lang="en-US" altLang="ko-KR"/>
              <a:t>, </a:t>
            </a:r>
            <a:r>
              <a:rPr lang="ko-KR" altLang="en-US"/>
              <a:t>조직의 핵심 인물과 부서 구조를 분석했습니다</a:t>
            </a:r>
            <a:r>
              <a:rPr lang="en-US" altLang="ko-KR"/>
              <a:t>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3FFBA5-1DE7-484C-BC8E-2B230455CA7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7376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데이터는 </a:t>
            </a:r>
            <a:r>
              <a:rPr lang="en-US" altLang="ko-KR"/>
              <a:t>SNAP</a:t>
            </a:r>
            <a:r>
              <a:rPr lang="ko-KR" altLang="en-US"/>
              <a:t>의 </a:t>
            </a:r>
            <a:r>
              <a:rPr lang="en-US" altLang="ko-KR"/>
              <a:t>email-Eu-core</a:t>
            </a:r>
            <a:r>
              <a:rPr lang="ko-KR" altLang="en-US"/>
              <a:t>입니다</a:t>
            </a:r>
            <a:r>
              <a:rPr lang="en-US" altLang="ko-KR"/>
              <a:t>. 1,005</a:t>
            </a:r>
            <a:r>
              <a:rPr lang="ko-KR" altLang="en-US"/>
              <a:t>명이 주고받은 이메일 관계 </a:t>
            </a:r>
            <a:r>
              <a:rPr lang="en-US" altLang="ko-KR"/>
              <a:t>25,571</a:t>
            </a:r>
            <a:r>
              <a:rPr lang="ko-KR" altLang="en-US"/>
              <a:t>개와 </a:t>
            </a:r>
            <a:r>
              <a:rPr lang="en-US" altLang="ko-KR"/>
              <a:t>42</a:t>
            </a:r>
            <a:r>
              <a:rPr lang="ko-KR" altLang="en-US"/>
              <a:t>개 부서 라벨이 있습니다</a:t>
            </a:r>
            <a:r>
              <a:rPr lang="en-US" altLang="ko-KR"/>
              <a:t>. </a:t>
            </a:r>
            <a:r>
              <a:rPr lang="ko-KR" altLang="en-US"/>
              <a:t>자기 루프를 지우고 무방향 그래프로 바꾼 뒤</a:t>
            </a:r>
            <a:r>
              <a:rPr lang="en-US" altLang="ko-KR"/>
              <a:t>, </a:t>
            </a:r>
            <a:r>
              <a:rPr lang="ko-KR" altLang="en-US"/>
              <a:t>가장 큰 연결 요소인 </a:t>
            </a:r>
            <a:r>
              <a:rPr lang="en-US" altLang="ko-KR"/>
              <a:t>986</a:t>
            </a:r>
            <a:r>
              <a:rPr lang="ko-KR" altLang="en-US"/>
              <a:t>명을 분석했습니다</a:t>
            </a:r>
            <a:r>
              <a:rPr lang="en-US" altLang="ko-KR"/>
              <a:t>. </a:t>
            </a:r>
            <a:r>
              <a:rPr lang="ko-KR" altLang="en-US"/>
              <a:t>저희가 세운 가설은 세 가지입니다</a:t>
            </a:r>
            <a:r>
              <a:rPr lang="en-US" altLang="ko-KR"/>
              <a:t>. </a:t>
            </a:r>
            <a:r>
              <a:rPr lang="ko-KR" altLang="en-US"/>
              <a:t>첫째</a:t>
            </a:r>
            <a:r>
              <a:rPr lang="en-US" altLang="ko-KR"/>
              <a:t>, betweenness</a:t>
            </a:r>
            <a:r>
              <a:rPr lang="ko-KR" altLang="en-US"/>
              <a:t>가 높은 사람은 부서를 잇는 연결자이고</a:t>
            </a:r>
            <a:r>
              <a:rPr lang="en-US" altLang="ko-KR"/>
              <a:t>, </a:t>
            </a:r>
            <a:r>
              <a:rPr lang="ko-KR" altLang="en-US"/>
              <a:t>이들을 빼면 네트워크가 쪼개진다</a:t>
            </a:r>
            <a:r>
              <a:rPr lang="en-US" altLang="ko-KR"/>
              <a:t>. </a:t>
            </a:r>
            <a:r>
              <a:rPr lang="ko-KR" altLang="en-US"/>
              <a:t>둘째</a:t>
            </a:r>
            <a:r>
              <a:rPr lang="en-US" altLang="ko-KR"/>
              <a:t>, </a:t>
            </a:r>
            <a:r>
              <a:rPr lang="ko-KR" altLang="en-US"/>
              <a:t>같은 부서끼리 밀집해 있어 연결 구조만으로 부서를 맞힐 수 있다</a:t>
            </a:r>
            <a:r>
              <a:rPr lang="en-US" altLang="ko-KR"/>
              <a:t>. </a:t>
            </a:r>
            <a:r>
              <a:rPr lang="ko-KR" altLang="en-US"/>
              <a:t>셋째</a:t>
            </a:r>
            <a:r>
              <a:rPr lang="en-US" altLang="ko-KR"/>
              <a:t>, node2vec</a:t>
            </a:r>
            <a:r>
              <a:rPr lang="ko-KR" altLang="en-US"/>
              <a:t>이 </a:t>
            </a:r>
            <a:r>
              <a:rPr lang="en-US" altLang="ko-KR"/>
              <a:t>DeepWalk</a:t>
            </a:r>
            <a:r>
              <a:rPr lang="ko-KR" altLang="en-US"/>
              <a:t>보다</a:t>
            </a:r>
            <a:r>
              <a:rPr lang="en-US" altLang="ko-KR"/>
              <a:t>, GCN</a:t>
            </a:r>
            <a:r>
              <a:rPr lang="ko-KR" altLang="en-US"/>
              <a:t>이 얕은 임베딩보다 부서를 더 잘 맞힌다</a:t>
            </a:r>
            <a:r>
              <a:rPr lang="en-US" altLang="ko-KR"/>
              <a:t>. </a:t>
            </a:r>
            <a:r>
              <a:rPr lang="ko-KR" altLang="en-US"/>
              <a:t>결론부터 말씀드리면</a:t>
            </a:r>
            <a:r>
              <a:rPr lang="en-US" altLang="ko-KR"/>
              <a:t>, </a:t>
            </a:r>
            <a:r>
              <a:rPr lang="ko-KR" altLang="en-US"/>
              <a:t>어느 가설도 처음 형태 그대로는 지지되지 않았습니다</a:t>
            </a:r>
            <a:r>
              <a:rPr lang="en-US" altLang="ko-KR"/>
              <a:t>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3FFBA5-1DE7-484C-BC8E-2B230455CA7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92599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먼저 가설 </a:t>
            </a:r>
            <a:r>
              <a:rPr lang="en-US" altLang="ko-KR"/>
              <a:t>1</a:t>
            </a:r>
            <a:r>
              <a:rPr lang="ko-KR" altLang="en-US"/>
              <a:t>입니다</a:t>
            </a:r>
            <a:r>
              <a:rPr lang="en-US" altLang="ko-KR"/>
              <a:t>. betweenness </a:t>
            </a:r>
            <a:r>
              <a:rPr lang="ko-KR" altLang="en-US"/>
              <a:t>상위 </a:t>
            </a:r>
            <a:r>
              <a:rPr lang="en-US" altLang="ko-KR"/>
              <a:t>10</a:t>
            </a:r>
            <a:r>
              <a:rPr lang="ko-KR" altLang="en-US"/>
              <a:t>명은 이웃의 </a:t>
            </a:r>
            <a:r>
              <a:rPr lang="en-US" altLang="ko-KR"/>
              <a:t>93%</a:t>
            </a:r>
            <a:r>
              <a:rPr lang="ko-KR" altLang="en-US"/>
              <a:t>가 다른 부서 사람이고</a:t>
            </a:r>
            <a:r>
              <a:rPr lang="en-US" altLang="ko-KR"/>
              <a:t>, </a:t>
            </a:r>
            <a:r>
              <a:rPr lang="ko-KR" altLang="en-US"/>
              <a:t>평균 </a:t>
            </a:r>
            <a:r>
              <a:rPr lang="en-US" altLang="ko-KR"/>
              <a:t>33.6</a:t>
            </a:r>
            <a:r>
              <a:rPr lang="ko-KR" altLang="en-US"/>
              <a:t>개 부서와 이어져 있어 연결자인 것은 맞습니다</a:t>
            </a:r>
            <a:r>
              <a:rPr lang="en-US" altLang="ko-KR"/>
              <a:t>. </a:t>
            </a:r>
            <a:r>
              <a:rPr lang="ko-KR" altLang="en-US"/>
              <a:t>예를 들어 </a:t>
            </a:r>
            <a:r>
              <a:rPr lang="en-US" altLang="ko-KR"/>
              <a:t>betweenness 1</a:t>
            </a:r>
            <a:r>
              <a:rPr lang="ko-KR" altLang="en-US"/>
              <a:t>위인 </a:t>
            </a:r>
            <a:r>
              <a:rPr lang="en-US" altLang="ko-KR"/>
              <a:t>160</a:t>
            </a:r>
            <a:r>
              <a:rPr lang="ko-KR" altLang="en-US"/>
              <a:t>번 구성원은 </a:t>
            </a:r>
            <a:r>
              <a:rPr lang="en-US" altLang="ko-KR"/>
              <a:t>345</a:t>
            </a:r>
            <a:r>
              <a:rPr lang="ko-KR" altLang="en-US"/>
              <a:t>명과 연락하고</a:t>
            </a:r>
            <a:r>
              <a:rPr lang="en-US" altLang="ko-KR"/>
              <a:t>, 36</a:t>
            </a:r>
            <a:r>
              <a:rPr lang="ko-KR" altLang="en-US"/>
              <a:t>개 부서와 이어져 있습니다</a:t>
            </a:r>
            <a:r>
              <a:rPr lang="en-US" altLang="ko-KR"/>
              <a:t>. </a:t>
            </a:r>
            <a:r>
              <a:rPr lang="ko-KR" altLang="en-US"/>
              <a:t>그런데 연락 상대가 많은 </a:t>
            </a:r>
            <a:r>
              <a:rPr lang="en-US" altLang="ko-KR"/>
              <a:t>degree </a:t>
            </a:r>
            <a:r>
              <a:rPr lang="ko-KR" altLang="en-US"/>
              <a:t>상위 </a:t>
            </a:r>
            <a:r>
              <a:rPr lang="en-US" altLang="ko-KR"/>
              <a:t>10</a:t>
            </a:r>
            <a:r>
              <a:rPr lang="ko-KR" altLang="en-US"/>
              <a:t>명도 </a:t>
            </a:r>
            <a:r>
              <a:rPr lang="en-US" altLang="ko-KR"/>
              <a:t>93%</a:t>
            </a:r>
            <a:r>
              <a:rPr lang="ko-KR" altLang="en-US"/>
              <a:t>로 똑같고</a:t>
            </a:r>
            <a:r>
              <a:rPr lang="en-US" altLang="ko-KR"/>
              <a:t>, </a:t>
            </a:r>
            <a:r>
              <a:rPr lang="ko-KR" altLang="en-US"/>
              <a:t>두 명단 중 </a:t>
            </a:r>
            <a:r>
              <a:rPr lang="en-US" altLang="ko-KR"/>
              <a:t>7</a:t>
            </a:r>
            <a:r>
              <a:rPr lang="ko-KR" altLang="en-US"/>
              <a:t>명이 겹칩니다</a:t>
            </a:r>
            <a:r>
              <a:rPr lang="en-US" altLang="ko-KR"/>
              <a:t>. </a:t>
            </a:r>
            <a:r>
              <a:rPr lang="ko-KR" altLang="en-US"/>
              <a:t>오른쪽의 </a:t>
            </a:r>
            <a:r>
              <a:rPr lang="en-US" altLang="ko-KR"/>
              <a:t>0.93</a:t>
            </a:r>
            <a:r>
              <a:rPr lang="ko-KR" altLang="en-US"/>
              <a:t>은 </a:t>
            </a:r>
            <a:r>
              <a:rPr lang="en-US" altLang="ko-KR"/>
              <a:t>betweenness</a:t>
            </a:r>
            <a:r>
              <a:rPr lang="ko-KR" altLang="en-US"/>
              <a:t>와 </a:t>
            </a:r>
            <a:r>
              <a:rPr lang="en-US" altLang="ko-KR"/>
              <a:t>degree </a:t>
            </a:r>
            <a:r>
              <a:rPr lang="ko-KR" altLang="en-US"/>
              <a:t>순위의 상관계수로</a:t>
            </a:r>
            <a:r>
              <a:rPr lang="en-US" altLang="ko-KR"/>
              <a:t>, </a:t>
            </a:r>
            <a:r>
              <a:rPr lang="ko-KR" altLang="en-US"/>
              <a:t>두 순위가 거의 같다는 뜻입니다</a:t>
            </a:r>
            <a:r>
              <a:rPr lang="en-US" altLang="ko-KR"/>
              <a:t>. </a:t>
            </a:r>
            <a:r>
              <a:rPr lang="ko-KR" altLang="en-US"/>
              <a:t>즉 연결자 역할은 </a:t>
            </a:r>
            <a:r>
              <a:rPr lang="en-US" altLang="ko-KR"/>
              <a:t>betweenness</a:t>
            </a:r>
            <a:r>
              <a:rPr lang="ko-KR" altLang="en-US"/>
              <a:t>가 높은 사람만의 특징이 아니라</a:t>
            </a:r>
            <a:r>
              <a:rPr lang="en-US" altLang="ko-KR"/>
              <a:t>, </a:t>
            </a:r>
            <a:r>
              <a:rPr lang="ko-KR" altLang="en-US"/>
              <a:t>허브들에게 공통된 특징입니다</a:t>
            </a:r>
            <a:r>
              <a:rPr lang="en-US" altLang="ko-KR"/>
              <a:t>. </a:t>
            </a:r>
            <a:r>
              <a:rPr lang="ko-KR" altLang="en-US"/>
              <a:t>참고로 </a:t>
            </a:r>
            <a:r>
              <a:rPr lang="en-US" altLang="ko-KR"/>
              <a:t>betweenness </a:t>
            </a:r>
            <a:r>
              <a:rPr lang="ko-KR" altLang="en-US"/>
              <a:t>상위 </a:t>
            </a:r>
            <a:r>
              <a:rPr lang="en-US" altLang="ko-KR"/>
              <a:t>10</a:t>
            </a:r>
            <a:r>
              <a:rPr lang="ko-KR" altLang="en-US"/>
              <a:t>명 중 </a:t>
            </a:r>
            <a:r>
              <a:rPr lang="en-US" altLang="ko-KR"/>
              <a:t>6</a:t>
            </a:r>
            <a:r>
              <a:rPr lang="ko-KR" altLang="en-US"/>
              <a:t>명은 같은 </a:t>
            </a:r>
            <a:r>
              <a:rPr lang="en-US" altLang="ko-KR"/>
              <a:t>36</a:t>
            </a:r>
            <a:r>
              <a:rPr lang="ko-KR" altLang="en-US"/>
              <a:t>번 부서 소속이어서</a:t>
            </a:r>
            <a:r>
              <a:rPr lang="en-US" altLang="ko-KR"/>
              <a:t>, </a:t>
            </a:r>
            <a:r>
              <a:rPr lang="ko-KR" altLang="en-US"/>
              <a:t>중개 역할이 한 부서에 몰려 있습니다</a:t>
            </a:r>
            <a:r>
              <a:rPr lang="en-US" altLang="ko-KR"/>
              <a:t>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3FFBA5-1DE7-484C-BC8E-2B230455CA7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24980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다음은 핵심 인물을 차례로 빼면서 가장 큰 연결 요소가 얼마나 줄어드는지 본 실험입니다</a:t>
            </a:r>
            <a:r>
              <a:rPr lang="en-US" altLang="ko-KR"/>
              <a:t>. </a:t>
            </a:r>
            <a:r>
              <a:rPr lang="ko-KR" altLang="en-US"/>
              <a:t>주황색은 </a:t>
            </a:r>
            <a:r>
              <a:rPr lang="en-US" altLang="ko-KR"/>
              <a:t>betweenness, </a:t>
            </a:r>
            <a:r>
              <a:rPr lang="ko-KR" altLang="en-US"/>
              <a:t>파란색은 </a:t>
            </a:r>
            <a:r>
              <a:rPr lang="en-US" altLang="ko-KR"/>
              <a:t>degree </a:t>
            </a:r>
            <a:r>
              <a:rPr lang="ko-KR" altLang="en-US"/>
              <a:t>순서로 뺀 결과이고</a:t>
            </a:r>
            <a:r>
              <a:rPr lang="en-US" altLang="ko-KR"/>
              <a:t>, </a:t>
            </a:r>
            <a:r>
              <a:rPr lang="ko-KR" altLang="en-US"/>
              <a:t>회색은 무작위 제거입니다</a:t>
            </a:r>
            <a:r>
              <a:rPr lang="en-US" altLang="ko-KR"/>
              <a:t>. </a:t>
            </a:r>
            <a:r>
              <a:rPr lang="ko-KR" altLang="en-US"/>
              <a:t>주황 선은 계산 시간이 오래 걸려서 </a:t>
            </a:r>
            <a:r>
              <a:rPr lang="en-US" altLang="ko-KR"/>
              <a:t>400</a:t>
            </a:r>
            <a:r>
              <a:rPr lang="ko-KR" altLang="en-US"/>
              <a:t>명</a:t>
            </a:r>
            <a:r>
              <a:rPr lang="en-US" altLang="ko-KR"/>
              <a:t>, </a:t>
            </a:r>
            <a:r>
              <a:rPr lang="ko-KR" altLang="en-US"/>
              <a:t>약 </a:t>
            </a:r>
            <a:r>
              <a:rPr lang="en-US" altLang="ko-KR"/>
              <a:t>40%</a:t>
            </a:r>
            <a:r>
              <a:rPr lang="ko-KR" altLang="en-US"/>
              <a:t>까지만 계산했습니다</a:t>
            </a:r>
            <a:r>
              <a:rPr lang="en-US" altLang="ko-KR"/>
              <a:t>. </a:t>
            </a:r>
            <a:r>
              <a:rPr lang="ko-KR" altLang="en-US"/>
              <a:t>무작위로는 </a:t>
            </a:r>
            <a:r>
              <a:rPr lang="en-US" altLang="ko-KR"/>
              <a:t>46.9%</a:t>
            </a:r>
            <a:r>
              <a:rPr lang="ko-KR" altLang="en-US"/>
              <a:t>를 빼야 절반 아래로 떨어지니</a:t>
            </a:r>
            <a:r>
              <a:rPr lang="en-US" altLang="ko-KR"/>
              <a:t>, </a:t>
            </a:r>
            <a:r>
              <a:rPr lang="ko-KR" altLang="en-US"/>
              <a:t>표적 제거가 더 빠릅니다</a:t>
            </a:r>
            <a:r>
              <a:rPr lang="en-US" altLang="ko-KR"/>
              <a:t>. </a:t>
            </a:r>
            <a:r>
              <a:rPr lang="ko-KR" altLang="en-US"/>
              <a:t>하지만 표적 제거로도 절반 아래로 떨어뜨리려면 </a:t>
            </a:r>
            <a:r>
              <a:rPr lang="en-US" altLang="ko-KR"/>
              <a:t>betweenness </a:t>
            </a:r>
            <a:r>
              <a:rPr lang="ko-KR" altLang="en-US"/>
              <a:t>순으로 </a:t>
            </a:r>
            <a:r>
              <a:rPr lang="en-US" altLang="ko-KR"/>
              <a:t>30.4%, degree </a:t>
            </a:r>
            <a:r>
              <a:rPr lang="ko-KR" altLang="en-US"/>
              <a:t>순으로 </a:t>
            </a:r>
            <a:r>
              <a:rPr lang="en-US" altLang="ko-KR"/>
              <a:t>33.0%</a:t>
            </a:r>
            <a:r>
              <a:rPr lang="ko-KR" altLang="en-US"/>
              <a:t>를 빼야 합니다</a:t>
            </a:r>
            <a:r>
              <a:rPr lang="en-US" altLang="ko-KR"/>
              <a:t>. </a:t>
            </a:r>
            <a:r>
              <a:rPr lang="ko-KR" altLang="en-US"/>
              <a:t>두 번째로 큰 연결 요소도 </a:t>
            </a:r>
            <a:r>
              <a:rPr lang="en-US" altLang="ko-KR"/>
              <a:t>8%</a:t>
            </a:r>
            <a:r>
              <a:rPr lang="ko-KR" altLang="en-US"/>
              <a:t>를 넘지 않아</a:t>
            </a:r>
            <a:r>
              <a:rPr lang="en-US" altLang="ko-KR"/>
              <a:t>, </a:t>
            </a:r>
            <a:r>
              <a:rPr lang="ko-KR" altLang="en-US"/>
              <a:t>네트워크는 쪼개지기보다 조금씩 깎여 나갑니다</a:t>
            </a:r>
            <a:r>
              <a:rPr lang="en-US" altLang="ko-KR"/>
              <a:t>. </a:t>
            </a:r>
            <a:r>
              <a:rPr lang="ko-KR" altLang="en-US"/>
              <a:t>그래서 가설 </a:t>
            </a:r>
            <a:r>
              <a:rPr lang="en-US" altLang="ko-KR"/>
              <a:t>1</a:t>
            </a:r>
            <a:r>
              <a:rPr lang="ko-KR" altLang="en-US"/>
              <a:t>은 ‘표적 제거가 더 효과적이지만 핵심 구조는 견고하다’로 수정합니다</a:t>
            </a:r>
            <a:r>
              <a:rPr lang="en-US" altLang="ko-KR"/>
              <a:t>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3FFBA5-1DE7-484C-BC8E-2B230455CA7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96520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다음은 가설 </a:t>
            </a:r>
            <a:r>
              <a:rPr lang="en-US" altLang="ko-KR"/>
              <a:t>2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같은 부서끼리 이어진 간선은 </a:t>
            </a:r>
            <a:r>
              <a:rPr lang="en-US" altLang="ko-KR"/>
              <a:t>33.6%</a:t>
            </a:r>
            <a:r>
              <a:rPr lang="ko-KR" altLang="en-US"/>
              <a:t>로</a:t>
            </a:r>
            <a:r>
              <a:rPr lang="en-US" altLang="ko-KR"/>
              <a:t>, </a:t>
            </a:r>
            <a:r>
              <a:rPr lang="ko-KR" altLang="en-US"/>
              <a:t>부서 라벨을 무작위로 섞었을 때의 </a:t>
            </a:r>
            <a:r>
              <a:rPr lang="en-US" altLang="ko-KR"/>
              <a:t>4.7%</a:t>
            </a:r>
            <a:r>
              <a:rPr lang="ko-KR" altLang="en-US"/>
              <a:t>보다 훨씬 많습니다</a:t>
            </a:r>
            <a:r>
              <a:rPr lang="en-US" altLang="ko-KR"/>
              <a:t>. </a:t>
            </a:r>
            <a:r>
              <a:rPr lang="ko-KR" altLang="en-US"/>
              <a:t>하지만 한 사람의 이웃 중 같은 부서는 평균 </a:t>
            </a:r>
            <a:r>
              <a:rPr lang="en-US" altLang="ko-KR"/>
              <a:t>46%</a:t>
            </a:r>
            <a:r>
              <a:rPr lang="ko-KR" altLang="en-US"/>
              <a:t>로 절반이 안 됩니다</a:t>
            </a:r>
            <a:r>
              <a:rPr lang="en-US" altLang="ko-KR"/>
              <a:t>. </a:t>
            </a:r>
            <a:r>
              <a:rPr lang="ko-KR" altLang="en-US"/>
              <a:t>그래서 동종선호는 유의하지만</a:t>
            </a:r>
            <a:r>
              <a:rPr lang="en-US" altLang="ko-KR"/>
              <a:t>, </a:t>
            </a:r>
            <a:r>
              <a:rPr lang="ko-KR" altLang="en-US"/>
              <a:t>밀집이라고 하기에는 약합니다</a:t>
            </a:r>
            <a:r>
              <a:rPr lang="en-US" altLang="ko-KR"/>
              <a:t>. </a:t>
            </a:r>
            <a:r>
              <a:rPr lang="ko-KR" altLang="en-US"/>
              <a:t>그래도 연결 구조만으로 부서를 꽤 잘 맞힙니다</a:t>
            </a:r>
            <a:r>
              <a:rPr lang="en-US" altLang="ko-KR"/>
              <a:t>. </a:t>
            </a:r>
            <a:r>
              <a:rPr lang="ko-KR" altLang="en-US"/>
              <a:t>왼쪽 </a:t>
            </a:r>
            <a:r>
              <a:rPr lang="en-US" altLang="ko-KR"/>
              <a:t>t-SNE</a:t>
            </a:r>
            <a:r>
              <a:rPr lang="ko-KR" altLang="en-US"/>
              <a:t>에서 큰 부서들이 대체로 각자 모여 있습니다</a:t>
            </a:r>
            <a:r>
              <a:rPr lang="en-US" altLang="ko-KR"/>
              <a:t>. DeepWalk </a:t>
            </a:r>
            <a:r>
              <a:rPr lang="ko-KR" altLang="en-US"/>
              <a:t>임베딩에 로지스틱 회귀를 쓰고 라벨의 </a:t>
            </a:r>
            <a:r>
              <a:rPr lang="en-US" altLang="ko-KR"/>
              <a:t>80%</a:t>
            </a:r>
            <a:r>
              <a:rPr lang="ko-KR" altLang="en-US"/>
              <a:t>로 학습했더니</a:t>
            </a:r>
            <a:r>
              <a:rPr lang="en-US" altLang="ko-KR"/>
              <a:t>, 5</a:t>
            </a:r>
            <a:r>
              <a:rPr lang="ko-KR" altLang="en-US"/>
              <a:t>명 미만인 작은 부서 </a:t>
            </a:r>
            <a:r>
              <a:rPr lang="en-US" altLang="ko-KR"/>
              <a:t>7</a:t>
            </a:r>
            <a:r>
              <a:rPr lang="ko-KR" altLang="en-US"/>
              <a:t>개를 뺀 </a:t>
            </a:r>
            <a:r>
              <a:rPr lang="en-US" altLang="ko-KR"/>
              <a:t>35</a:t>
            </a:r>
            <a:r>
              <a:rPr lang="ko-KR" altLang="en-US"/>
              <a:t>개 부서 분류에서 정확도는 </a:t>
            </a:r>
            <a:r>
              <a:rPr lang="en-US" altLang="ko-KR"/>
              <a:t>0.76, Macro-F1</a:t>
            </a:r>
            <a:r>
              <a:rPr lang="ko-KR" altLang="en-US"/>
              <a:t>은 </a:t>
            </a:r>
            <a:r>
              <a:rPr lang="en-US" altLang="ko-KR"/>
              <a:t>0.65</a:t>
            </a:r>
            <a:r>
              <a:rPr lang="ko-KR" altLang="en-US"/>
              <a:t>였습니다</a:t>
            </a:r>
            <a:r>
              <a:rPr lang="en-US" altLang="ko-KR"/>
              <a:t>. </a:t>
            </a:r>
            <a:r>
              <a:rPr lang="ko-KR" altLang="en-US"/>
              <a:t>다수 클래스 기준선은 </a:t>
            </a:r>
            <a:r>
              <a:rPr lang="en-US" altLang="ko-KR"/>
              <a:t>0.11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그래서 가설 </a:t>
            </a:r>
            <a:r>
              <a:rPr lang="en-US" altLang="ko-KR"/>
              <a:t>2</a:t>
            </a:r>
            <a:r>
              <a:rPr lang="ko-KR" altLang="en-US"/>
              <a:t>는 부분 지지입니다</a:t>
            </a:r>
            <a:r>
              <a:rPr lang="en-US" altLang="ko-KR"/>
              <a:t>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3FFBA5-1DE7-484C-BC8E-2B230455CA7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8694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마지막으로 가설 </a:t>
            </a:r>
            <a:r>
              <a:rPr lang="en-US" altLang="ko-KR"/>
              <a:t>3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왼쪽 그림처럼 </a:t>
            </a:r>
            <a:r>
              <a:rPr lang="en-US" altLang="ko-KR"/>
              <a:t>node2vec</a:t>
            </a:r>
            <a:r>
              <a:rPr lang="ko-KR" altLang="en-US"/>
              <a:t>의 </a:t>
            </a:r>
            <a:r>
              <a:rPr lang="en-US" altLang="ko-KR"/>
              <a:t>q</a:t>
            </a:r>
            <a:r>
              <a:rPr lang="ko-KR" altLang="en-US"/>
              <a:t>를 </a:t>
            </a:r>
            <a:r>
              <a:rPr lang="en-US" altLang="ko-KR"/>
              <a:t>0.5</a:t>
            </a:r>
            <a:r>
              <a:rPr lang="ko-KR" altLang="en-US"/>
              <a:t>와 </a:t>
            </a:r>
            <a:r>
              <a:rPr lang="en-US" altLang="ko-KR"/>
              <a:t>2</a:t>
            </a:r>
            <a:r>
              <a:rPr lang="ko-KR" altLang="en-US"/>
              <a:t>로 바꿔 봐도</a:t>
            </a:r>
            <a:r>
              <a:rPr lang="en-US" altLang="ko-KR"/>
              <a:t>, DeepWalk</a:t>
            </a:r>
            <a:r>
              <a:rPr lang="ko-KR" altLang="en-US"/>
              <a:t>와의 차이는 시드에 따른 변동 정도입니다</a:t>
            </a:r>
            <a:r>
              <a:rPr lang="en-US" altLang="ko-KR"/>
              <a:t>. </a:t>
            </a:r>
            <a:r>
              <a:rPr lang="ko-KR" altLang="en-US"/>
              <a:t>그래서 시험한 설정에서는 </a:t>
            </a:r>
            <a:r>
              <a:rPr lang="en-US" altLang="ko-KR"/>
              <a:t>node2vec</a:t>
            </a:r>
            <a:r>
              <a:rPr lang="ko-KR" altLang="en-US"/>
              <a:t>이 낫다고 할 수 없습니다</a:t>
            </a:r>
            <a:r>
              <a:rPr lang="en-US" altLang="ko-KR"/>
              <a:t>. </a:t>
            </a:r>
            <a:r>
              <a:rPr lang="ko-KR" altLang="en-US"/>
              <a:t>오른쪽에서 회색은 학습 없는 기준선</a:t>
            </a:r>
            <a:r>
              <a:rPr lang="en-US" altLang="ko-KR"/>
              <a:t>, </a:t>
            </a:r>
            <a:r>
              <a:rPr lang="ko-KR" altLang="en-US"/>
              <a:t>파란색은 </a:t>
            </a:r>
            <a:r>
              <a:rPr lang="en-US" altLang="ko-KR"/>
              <a:t>DeepWalk </a:t>
            </a:r>
            <a:r>
              <a:rPr lang="ko-KR" altLang="en-US"/>
              <a:t>임베딩에 분류기를 붙인 방법입니다</a:t>
            </a:r>
            <a:r>
              <a:rPr lang="en-US" altLang="ko-KR"/>
              <a:t>. GCN</a:t>
            </a:r>
            <a:r>
              <a:rPr lang="ko-KR" altLang="en-US"/>
              <a:t>은 </a:t>
            </a:r>
            <a:r>
              <a:rPr lang="en-US" altLang="ko-KR"/>
              <a:t>Macro-F1 0.668</a:t>
            </a:r>
            <a:r>
              <a:rPr lang="ko-KR" altLang="en-US"/>
              <a:t>로 가장 높았고</a:t>
            </a:r>
            <a:r>
              <a:rPr lang="en-US" altLang="ko-KR"/>
              <a:t>, </a:t>
            </a:r>
            <a:r>
              <a:rPr lang="ko-KR" altLang="en-US"/>
              <a:t>같은 </a:t>
            </a:r>
            <a:r>
              <a:rPr lang="en-US" altLang="ko-KR"/>
              <a:t>DeepWalk </a:t>
            </a:r>
            <a:r>
              <a:rPr lang="ko-KR" altLang="en-US"/>
              <a:t>특징을 쓰되 그래프 연결만 뺀 </a:t>
            </a:r>
            <a:r>
              <a:rPr lang="en-US" altLang="ko-KR"/>
              <a:t>MLP</a:t>
            </a:r>
            <a:r>
              <a:rPr lang="ko-KR" altLang="en-US"/>
              <a:t>보다 </a:t>
            </a:r>
            <a:r>
              <a:rPr lang="en-US" altLang="ko-KR"/>
              <a:t>0.033 </a:t>
            </a:r>
            <a:r>
              <a:rPr lang="ko-KR" altLang="en-US"/>
              <a:t>높았습니다</a:t>
            </a:r>
            <a:r>
              <a:rPr lang="en-US" altLang="ko-KR"/>
              <a:t>. 5</a:t>
            </a:r>
            <a:r>
              <a:rPr lang="ko-KR" altLang="en-US"/>
              <a:t>개 </a:t>
            </a:r>
            <a:r>
              <a:rPr lang="en-US" altLang="ko-KR"/>
              <a:t>fold </a:t>
            </a:r>
            <a:r>
              <a:rPr lang="ko-KR" altLang="en-US"/>
              <a:t>중 </a:t>
            </a:r>
            <a:r>
              <a:rPr lang="en-US" altLang="ko-KR"/>
              <a:t>4</a:t>
            </a:r>
            <a:r>
              <a:rPr lang="ko-KR" altLang="en-US"/>
              <a:t>개에서 앞섰지만</a:t>
            </a:r>
            <a:r>
              <a:rPr lang="en-US" altLang="ko-KR"/>
              <a:t>, </a:t>
            </a:r>
            <a:r>
              <a:rPr lang="ko-KR" altLang="en-US"/>
              <a:t>분할 하나와 임베딩 시드 하나로 얻은 예비 결과입니다</a:t>
            </a:r>
            <a:r>
              <a:rPr lang="en-US" altLang="ko-KR"/>
              <a:t>. </a:t>
            </a:r>
            <a:r>
              <a:rPr lang="ko-KR" altLang="en-US"/>
              <a:t>그래서 가설 </a:t>
            </a:r>
            <a:r>
              <a:rPr lang="en-US" altLang="ko-KR"/>
              <a:t>3</a:t>
            </a:r>
            <a:r>
              <a:rPr lang="ko-KR" altLang="en-US"/>
              <a:t>도 부분 지지입니다</a:t>
            </a:r>
            <a:r>
              <a:rPr lang="en-US" altLang="ko-KR"/>
              <a:t>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3FFBA5-1DE7-484C-BC8E-2B230455CA7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4623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정리하겠습니다</a:t>
            </a:r>
            <a:r>
              <a:rPr lang="en-US" altLang="ko-KR"/>
              <a:t>. </a:t>
            </a:r>
            <a:r>
              <a:rPr lang="ko-KR" altLang="en-US"/>
              <a:t>가설 </a:t>
            </a:r>
            <a:r>
              <a:rPr lang="en-US" altLang="ko-KR"/>
              <a:t>1</a:t>
            </a:r>
            <a:r>
              <a:rPr lang="ko-KR" altLang="en-US"/>
              <a:t>은 수정</a:t>
            </a:r>
            <a:r>
              <a:rPr lang="en-US" altLang="ko-KR"/>
              <a:t>, </a:t>
            </a:r>
            <a:r>
              <a:rPr lang="ko-KR" altLang="en-US"/>
              <a:t>가설 </a:t>
            </a:r>
            <a:r>
              <a:rPr lang="en-US" altLang="ko-KR"/>
              <a:t>2</a:t>
            </a:r>
            <a:r>
              <a:rPr lang="ko-KR" altLang="en-US"/>
              <a:t>와 </a:t>
            </a:r>
            <a:r>
              <a:rPr lang="en-US" altLang="ko-KR"/>
              <a:t>3</a:t>
            </a:r>
            <a:r>
              <a:rPr lang="ko-KR" altLang="en-US"/>
              <a:t>은 부분 지지입니다</a:t>
            </a:r>
            <a:r>
              <a:rPr lang="en-US" altLang="ko-KR"/>
              <a:t>. </a:t>
            </a:r>
            <a:r>
              <a:rPr lang="ko-KR" altLang="en-US"/>
              <a:t>연결자 역할은 허브의 공통 특징이었고</a:t>
            </a:r>
            <a:r>
              <a:rPr lang="en-US" altLang="ko-KR"/>
              <a:t>, </a:t>
            </a:r>
            <a:r>
              <a:rPr lang="ko-KR" altLang="en-US"/>
              <a:t>네트워크는 쉽게 쪼개지지 않았습니다</a:t>
            </a:r>
            <a:r>
              <a:rPr lang="en-US" altLang="ko-KR"/>
              <a:t>. </a:t>
            </a:r>
            <a:r>
              <a:rPr lang="ko-KR" altLang="en-US"/>
              <a:t>동종선호는 약했지만 구조만으로 부서를 맞힐 수 있었습니다</a:t>
            </a:r>
            <a:r>
              <a:rPr lang="en-US" altLang="ko-KR"/>
              <a:t>. node2vec</a:t>
            </a:r>
            <a:r>
              <a:rPr lang="ko-KR" altLang="en-US"/>
              <a:t>의 우위는 보이지 않았고</a:t>
            </a:r>
            <a:r>
              <a:rPr lang="en-US" altLang="ko-KR"/>
              <a:t>, GCN</a:t>
            </a:r>
            <a:r>
              <a:rPr lang="ko-KR" altLang="en-US"/>
              <a:t>은 </a:t>
            </a:r>
            <a:r>
              <a:rPr lang="en-US" altLang="ko-KR"/>
              <a:t>MLP</a:t>
            </a:r>
            <a:r>
              <a:rPr lang="ko-KR" altLang="en-US"/>
              <a:t>보다 조금 앞섰지만 아직 예비 결과입니다</a:t>
            </a:r>
            <a:r>
              <a:rPr lang="en-US" altLang="ko-KR"/>
              <a:t>. </a:t>
            </a:r>
            <a:r>
              <a:rPr lang="ko-KR" altLang="en-US"/>
              <a:t>조직 관점에서는 세 가지를 말씀드릴 수 있습니다</a:t>
            </a:r>
            <a:r>
              <a:rPr lang="en-US" altLang="ko-KR"/>
              <a:t>. </a:t>
            </a:r>
            <a:r>
              <a:rPr lang="ko-KR" altLang="en-US"/>
              <a:t>첫째</a:t>
            </a:r>
            <a:r>
              <a:rPr lang="en-US" altLang="ko-KR"/>
              <a:t>, </a:t>
            </a:r>
            <a:r>
              <a:rPr lang="ko-KR" altLang="en-US"/>
              <a:t>상위 </a:t>
            </a:r>
            <a:r>
              <a:rPr lang="en-US" altLang="ko-KR"/>
              <a:t>10</a:t>
            </a:r>
            <a:r>
              <a:rPr lang="ko-KR" altLang="en-US"/>
              <a:t>명</a:t>
            </a:r>
            <a:r>
              <a:rPr lang="en-US" altLang="ko-KR"/>
              <a:t>, </a:t>
            </a:r>
            <a:r>
              <a:rPr lang="ko-KR" altLang="en-US"/>
              <a:t>즉 </a:t>
            </a:r>
            <a:r>
              <a:rPr lang="en-US" altLang="ko-KR"/>
              <a:t>1%</a:t>
            </a:r>
            <a:r>
              <a:rPr lang="ko-KR" altLang="en-US"/>
              <a:t>가 </a:t>
            </a:r>
            <a:r>
              <a:rPr lang="en-US" altLang="ko-KR"/>
              <a:t>betweenness </a:t>
            </a:r>
            <a:r>
              <a:rPr lang="ko-KR" altLang="en-US"/>
              <a:t>총합의 </a:t>
            </a:r>
            <a:r>
              <a:rPr lang="en-US" altLang="ko-KR"/>
              <a:t>21%</a:t>
            </a:r>
            <a:r>
              <a:rPr lang="ko-KR" altLang="en-US"/>
              <a:t>를 차지할 만큼 부서 간 중개가 몰려 있으니</a:t>
            </a:r>
            <a:r>
              <a:rPr lang="en-US" altLang="ko-KR"/>
              <a:t>, </a:t>
            </a:r>
            <a:r>
              <a:rPr lang="ko-KR" altLang="en-US"/>
              <a:t>이들의 연락 부담을 살펴봐야 합니다</a:t>
            </a:r>
            <a:r>
              <a:rPr lang="en-US" altLang="ko-KR"/>
              <a:t>. </a:t>
            </a:r>
            <a:r>
              <a:rPr lang="ko-KR" altLang="en-US"/>
              <a:t>둘째</a:t>
            </a:r>
            <a:r>
              <a:rPr lang="en-US" altLang="ko-KR"/>
              <a:t>, </a:t>
            </a:r>
            <a:r>
              <a:rPr lang="ko-KR" altLang="en-US"/>
              <a:t>허브가 빠져도 핵심부는 유지되지만</a:t>
            </a:r>
            <a:r>
              <a:rPr lang="en-US" altLang="ko-KR"/>
              <a:t>, </a:t>
            </a:r>
            <a:r>
              <a:rPr lang="ko-KR" altLang="en-US"/>
              <a:t>연결이 적은 구성원은 고립되지 않게 챙겨야 합니다</a:t>
            </a:r>
            <a:r>
              <a:rPr lang="en-US" altLang="ko-KR"/>
              <a:t>. </a:t>
            </a:r>
            <a:r>
              <a:rPr lang="ko-KR" altLang="en-US"/>
              <a:t>셋째</a:t>
            </a:r>
            <a:r>
              <a:rPr lang="en-US" altLang="ko-KR"/>
              <a:t>, </a:t>
            </a:r>
            <a:r>
              <a:rPr lang="ko-KR" altLang="en-US"/>
              <a:t>연락 기록만으로 소속을 추론할 수 있으니</a:t>
            </a:r>
            <a:r>
              <a:rPr lang="en-US" altLang="ko-KR"/>
              <a:t>, </a:t>
            </a:r>
            <a:r>
              <a:rPr lang="ko-KR" altLang="en-US"/>
              <a:t>메타데이터도 프라이버시 보호 대상으로 다뤄야 합니다</a:t>
            </a:r>
            <a:r>
              <a:rPr lang="en-US" altLang="ko-KR"/>
              <a:t>. </a:t>
            </a:r>
            <a:r>
              <a:rPr lang="ko-KR" altLang="en-US"/>
              <a:t>다만 방향 정보를 쓰지 않았고 데이터 분할도 하나뿐이어서</a:t>
            </a:r>
            <a:r>
              <a:rPr lang="en-US" altLang="ko-KR"/>
              <a:t>, </a:t>
            </a:r>
            <a:r>
              <a:rPr lang="ko-KR" altLang="en-US"/>
              <a:t>이 부분은 다음 과제로 남겨 두었습니다</a:t>
            </a:r>
            <a:r>
              <a:rPr lang="en-US" altLang="ko-KR"/>
              <a:t>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3FFBA5-1DE7-484C-BC8E-2B230455CA7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5002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이상으로 발표를 마치겠습니다</a:t>
            </a:r>
            <a:r>
              <a:rPr lang="en-US" altLang="ko-KR"/>
              <a:t>. </a:t>
            </a:r>
            <a:r>
              <a:rPr lang="ko-KR" altLang="en-US"/>
              <a:t>결과와 인터랙티브 그래프는 화면의 웹사이트에서 직접 보실 수 있습니다</a:t>
            </a:r>
            <a:r>
              <a:rPr lang="en-US" altLang="ko-KR"/>
              <a:t>. </a:t>
            </a:r>
            <a:r>
              <a:rPr lang="ko-KR" altLang="en-US"/>
              <a:t>감사합니다</a:t>
            </a:r>
            <a:r>
              <a:rPr lang="en-US" altLang="ko-KR"/>
              <a:t>. </a:t>
            </a:r>
            <a:r>
              <a:rPr lang="ko-KR" altLang="en-US"/>
              <a:t>질문 받겠습니다</a:t>
            </a:r>
            <a:r>
              <a:rPr lang="en-US" altLang="ko-KR"/>
              <a:t>. (</a:t>
            </a:r>
            <a:r>
              <a:rPr lang="ko-KR" altLang="en-US"/>
              <a:t>질문이 나오면 뒤의 부록 슬라이드를 활용</a:t>
            </a:r>
            <a:r>
              <a:rPr lang="en-US" altLang="ko-KR"/>
              <a:t>)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3FFBA5-1DE7-484C-BC8E-2B230455CA7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87469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</a:t>
            </a:r>
            <a:r>
              <a:rPr lang="ko-KR" altLang="en-US"/>
              <a:t>백업 슬라이드</a:t>
            </a:r>
            <a:r>
              <a:rPr lang="en-US" altLang="ko-KR"/>
              <a:t>]</a:t>
            </a:r>
          </a:p>
          <a:p>
            <a:r>
              <a:rPr lang="ko-KR" altLang="en-US"/>
              <a:t>정확도나 기준선을 묻는 질문이 나오면 사용합니다</a:t>
            </a:r>
            <a:r>
              <a:rPr lang="en-US" altLang="ko-KR"/>
              <a:t>. </a:t>
            </a:r>
            <a:r>
              <a:rPr lang="ko-KR" altLang="en-US"/>
              <a:t>왼쪽은 시드 </a:t>
            </a:r>
            <a:r>
              <a:rPr lang="en-US" altLang="ko-KR"/>
              <a:t>0 </a:t>
            </a:r>
            <a:r>
              <a:rPr lang="ko-KR" altLang="en-US"/>
              <a:t>임베딩으로 같은 </a:t>
            </a:r>
            <a:r>
              <a:rPr lang="en-US" altLang="ko-KR"/>
              <a:t>5-fold</a:t>
            </a:r>
            <a:r>
              <a:rPr lang="ko-KR" altLang="en-US"/>
              <a:t>에서 비교한 값이고</a:t>
            </a:r>
            <a:r>
              <a:rPr lang="en-US" altLang="ko-KR"/>
              <a:t>, </a:t>
            </a:r>
            <a:r>
              <a:rPr lang="ko-KR" altLang="en-US"/>
              <a:t>오른쪽은 임베딩 시드 </a:t>
            </a:r>
            <a:r>
              <a:rPr lang="en-US" altLang="ko-KR"/>
              <a:t>3</a:t>
            </a:r>
            <a:r>
              <a:rPr lang="ko-KR" altLang="en-US"/>
              <a:t>개의 평균입니다</a:t>
            </a:r>
            <a:r>
              <a:rPr lang="en-US" altLang="ko-KR"/>
              <a:t>. GCN</a:t>
            </a:r>
            <a:r>
              <a:rPr lang="ko-KR" altLang="en-US"/>
              <a:t>과 </a:t>
            </a:r>
            <a:r>
              <a:rPr lang="en-US" altLang="ko-KR"/>
              <a:t>MLP</a:t>
            </a:r>
            <a:r>
              <a:rPr lang="ko-KR" altLang="en-US"/>
              <a:t>를 </a:t>
            </a:r>
            <a:r>
              <a:rPr lang="en-US" altLang="ko-KR"/>
              <a:t>fold</a:t>
            </a:r>
            <a:r>
              <a:rPr lang="ko-KR" altLang="en-US"/>
              <a:t>별로 짝지어 비교하면 </a:t>
            </a:r>
            <a:r>
              <a:rPr lang="en-US" altLang="ko-KR"/>
              <a:t>Macro-F1</a:t>
            </a:r>
            <a:r>
              <a:rPr lang="ko-KR" altLang="en-US"/>
              <a:t>은 평균 </a:t>
            </a:r>
            <a:r>
              <a:rPr lang="en-US" altLang="ko-KR"/>
              <a:t>0.033, </a:t>
            </a:r>
            <a:r>
              <a:rPr lang="ko-KR" altLang="en-US"/>
              <a:t>정확도는 </a:t>
            </a:r>
            <a:r>
              <a:rPr lang="en-US" altLang="ko-KR"/>
              <a:t>0.021 </a:t>
            </a:r>
            <a:r>
              <a:rPr lang="ko-KR" altLang="en-US"/>
              <a:t>높았고</a:t>
            </a:r>
            <a:r>
              <a:rPr lang="en-US" altLang="ko-KR"/>
              <a:t>, 5</a:t>
            </a:r>
            <a:r>
              <a:rPr lang="ko-KR" altLang="en-US"/>
              <a:t>개 </a:t>
            </a:r>
            <a:r>
              <a:rPr lang="en-US" altLang="ko-KR"/>
              <a:t>fold </a:t>
            </a:r>
            <a:r>
              <a:rPr lang="ko-KR" altLang="en-US"/>
              <a:t>중 </a:t>
            </a:r>
            <a:r>
              <a:rPr lang="en-US" altLang="ko-KR"/>
              <a:t>4</a:t>
            </a:r>
            <a:r>
              <a:rPr lang="ko-KR" altLang="en-US"/>
              <a:t>개에서 </a:t>
            </a:r>
            <a:r>
              <a:rPr lang="en-US" altLang="ko-KR"/>
              <a:t>GCN</a:t>
            </a:r>
            <a:r>
              <a:rPr lang="ko-KR" altLang="en-US"/>
              <a:t>이 앞섰습니다</a:t>
            </a:r>
            <a:r>
              <a:rPr lang="en-US" altLang="ko-KR"/>
              <a:t>. label spreading</a:t>
            </a:r>
            <a:r>
              <a:rPr lang="ko-KR" altLang="en-US"/>
              <a:t>의 </a:t>
            </a:r>
            <a:r>
              <a:rPr lang="en-US" altLang="ko-KR"/>
              <a:t>α</a:t>
            </a:r>
            <a:r>
              <a:rPr lang="ko-KR" altLang="en-US"/>
              <a:t>는 테스트 결과를 본 뒤 기본값 </a:t>
            </a:r>
            <a:r>
              <a:rPr lang="en-US" altLang="ko-KR"/>
              <a:t>0.2</a:t>
            </a:r>
            <a:r>
              <a:rPr lang="ko-KR" altLang="en-US"/>
              <a:t>로 바꿨기 때문에</a:t>
            </a:r>
            <a:r>
              <a:rPr lang="en-US" altLang="ko-KR"/>
              <a:t>, </a:t>
            </a:r>
            <a:r>
              <a:rPr lang="ko-KR" altLang="en-US"/>
              <a:t>이 기준선은 약간 낙관적일 수 있습니다</a:t>
            </a:r>
            <a:r>
              <a:rPr lang="en-US" altLang="ko-KR"/>
              <a:t>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3FFBA5-1DE7-484C-BC8E-2B230455CA7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5323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</a:t>
            </a:r>
            <a:r>
              <a:rPr lang="ko-KR" altLang="en-US"/>
              <a:t>백업 슬라이드</a:t>
            </a:r>
            <a:r>
              <a:rPr lang="en-US" altLang="ko-KR"/>
              <a:t>]</a:t>
            </a:r>
          </a:p>
          <a:p>
            <a:r>
              <a:rPr lang="ko-KR" altLang="en-US"/>
              <a:t>동종선호가 얼마나 강한지 묻는 질문이 나오면 사용합니다</a:t>
            </a:r>
            <a:r>
              <a:rPr lang="en-US" altLang="ko-KR"/>
              <a:t>. assortativity</a:t>
            </a:r>
            <a:r>
              <a:rPr lang="ko-KR" altLang="en-US"/>
              <a:t>는 </a:t>
            </a:r>
            <a:r>
              <a:rPr lang="en-US" altLang="ko-KR"/>
              <a:t>0.30, </a:t>
            </a:r>
            <a:r>
              <a:rPr lang="ko-KR" altLang="en-US"/>
              <a:t>부서를 커뮤니티로 본 </a:t>
            </a:r>
            <a:r>
              <a:rPr lang="en-US" altLang="ko-KR"/>
              <a:t>modularity</a:t>
            </a:r>
            <a:r>
              <a:rPr lang="ko-KR" altLang="en-US"/>
              <a:t>는 </a:t>
            </a:r>
            <a:r>
              <a:rPr lang="en-US" altLang="ko-KR"/>
              <a:t>0.29</a:t>
            </a:r>
            <a:r>
              <a:rPr lang="ko-KR" altLang="en-US"/>
              <a:t>입니다</a:t>
            </a:r>
            <a:r>
              <a:rPr lang="en-US" altLang="ko-KR"/>
              <a:t>. 18</a:t>
            </a:r>
            <a:r>
              <a:rPr lang="ko-KR" altLang="en-US"/>
              <a:t>명짜리 최대 </a:t>
            </a:r>
            <a:r>
              <a:rPr lang="en-US" altLang="ko-KR"/>
              <a:t>clique 56</a:t>
            </a:r>
            <a:r>
              <a:rPr lang="ko-KR" altLang="en-US"/>
              <a:t>개 중 한 부서 사람이 </a:t>
            </a:r>
            <a:r>
              <a:rPr lang="en-US" altLang="ko-KR"/>
              <a:t>80% </a:t>
            </a:r>
            <a:r>
              <a:rPr lang="ko-KR" altLang="en-US"/>
              <a:t>이상인 것은 </a:t>
            </a:r>
            <a:r>
              <a:rPr lang="en-US" altLang="ko-KR"/>
              <a:t>4</a:t>
            </a:r>
            <a:r>
              <a:rPr lang="ko-KR" altLang="en-US"/>
              <a:t>개뿐이고</a:t>
            </a:r>
            <a:r>
              <a:rPr lang="en-US" altLang="ko-KR"/>
              <a:t>, </a:t>
            </a:r>
            <a:r>
              <a:rPr lang="ko-KR" altLang="en-US"/>
              <a:t>가장 촘촘한 </a:t>
            </a:r>
            <a:r>
              <a:rPr lang="en-US" altLang="ko-KR"/>
              <a:t>34-core</a:t>
            </a:r>
            <a:r>
              <a:rPr lang="ko-KR" altLang="en-US"/>
              <a:t>의 </a:t>
            </a:r>
            <a:r>
              <a:rPr lang="en-US" altLang="ko-KR"/>
              <a:t>79</a:t>
            </a:r>
            <a:r>
              <a:rPr lang="ko-KR" altLang="en-US"/>
              <a:t>명도 </a:t>
            </a:r>
            <a:r>
              <a:rPr lang="en-US" altLang="ko-KR"/>
              <a:t>28</a:t>
            </a:r>
            <a:r>
              <a:rPr lang="ko-KR" altLang="en-US"/>
              <a:t>개 부서에 걸쳐 있습니다</a:t>
            </a:r>
            <a:r>
              <a:rPr lang="en-US" altLang="ko-KR"/>
              <a:t>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3FFBA5-1DE7-484C-BC8E-2B230455CA7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45997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</a:t>
            </a:r>
            <a:r>
              <a:rPr lang="ko-KR" altLang="en-US"/>
              <a:t>백업 슬라이드</a:t>
            </a:r>
            <a:r>
              <a:rPr lang="en-US" altLang="ko-KR"/>
              <a:t>]</a:t>
            </a:r>
          </a:p>
          <a:p>
            <a:r>
              <a:rPr lang="ko-KR" altLang="en-US"/>
              <a:t>한계나 향후 과제를 묻는 질문이 나오면 사용합니다</a:t>
            </a:r>
            <a:r>
              <a:rPr lang="en-US" altLang="ko-KR"/>
              <a:t>. </a:t>
            </a:r>
            <a:r>
              <a:rPr lang="ko-KR" altLang="en-US"/>
              <a:t>가장 큰 한계는 방향 정보를 버린 것입니다</a:t>
            </a:r>
            <a:r>
              <a:rPr lang="en-US" altLang="ko-KR"/>
              <a:t>. </a:t>
            </a:r>
            <a:r>
              <a:rPr lang="ko-KR" altLang="en-US"/>
              <a:t>관계의 약 </a:t>
            </a:r>
            <a:r>
              <a:rPr lang="en-US" altLang="ko-KR"/>
              <a:t>45%</a:t>
            </a:r>
            <a:r>
              <a:rPr lang="ko-KR" altLang="en-US"/>
              <a:t>가 한쪽 방향뿐인데</a:t>
            </a:r>
            <a:r>
              <a:rPr lang="en-US" altLang="ko-KR"/>
              <a:t>, </a:t>
            </a:r>
            <a:r>
              <a:rPr lang="ko-KR" altLang="en-US"/>
              <a:t>무방향으로 바꾸면서 이 정보가 사라졌습니다</a:t>
            </a:r>
            <a:r>
              <a:rPr lang="en-US" altLang="ko-KR"/>
              <a:t>. </a:t>
            </a:r>
            <a:r>
              <a:rPr lang="ko-KR" altLang="en-US"/>
              <a:t>또 데이터 분할이 하나뿐이고 하이퍼파라미터 튜닝도 하지 않았습니다</a:t>
            </a:r>
            <a:r>
              <a:rPr lang="en-US" altLang="ko-KR"/>
              <a:t>. </a:t>
            </a:r>
            <a:r>
              <a:rPr lang="ko-KR" altLang="en-US"/>
              <a:t>다음 단계로는 방향 그래프로 다시 분석하고</a:t>
            </a:r>
            <a:r>
              <a:rPr lang="en-US" altLang="ko-KR"/>
              <a:t>, </a:t>
            </a:r>
            <a:r>
              <a:rPr lang="ko-KR" altLang="en-US"/>
              <a:t>여러 분할과 시드로 반복하면서 검증 집합으로 </a:t>
            </a:r>
            <a:r>
              <a:rPr lang="en-US" altLang="ko-KR"/>
              <a:t>p, q, α</a:t>
            </a:r>
            <a:r>
              <a:rPr lang="ko-KR" altLang="en-US"/>
              <a:t>를 고르려고 합니다</a:t>
            </a:r>
            <a:r>
              <a:rPr lang="en-US" altLang="ko-KR"/>
              <a:t>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3FFBA5-1DE7-484C-BC8E-2B230455CA7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14865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F0E5E0-B355-94BB-F093-6D316755A6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D6E206-CFDA-AD47-8473-6495F6D5A0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E9A6F1-B259-9B9B-58EC-9EA6BFA36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9D0F36-70A2-A99E-27E5-831783FF6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0BDE99-E889-9ED2-B630-EAD504EAD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197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CEFEFE-7378-500D-358E-79EB2D668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9165AB0-4F4D-64E4-81F9-100EF2803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B77EFF-BDB5-7057-8C9A-A5925361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6D90CF-F743-6751-8B70-4A9CBEBD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A634A2F-B5A6-4EFD-8BEF-AE9CF108B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523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881D92-E005-0970-EE9C-5060750B0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81250AB-E788-3DB6-A423-52E8F5397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8A85AB-5EBF-9FDB-D27C-894B28405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E0E48B3-B573-5B21-B12E-F80DFF637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C41118-B87E-9655-8EDD-221469B22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0369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C7154E-92AC-E33E-C75C-68CB17E24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79DA795-6EBA-E852-A643-D89D48792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AC51D83-8081-6973-3B15-856CE43629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A72EACA-3D24-FA0D-BA4C-B69DA25DC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A135F8-58C7-EDC1-890A-B366A7EE2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7D5B1E5-4B14-DF47-B225-86F904A41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9679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1130CB-9438-659C-EC68-404C80169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BE585A-0E0A-BC17-7FE1-0386A5F02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33BC30E-B1D2-6A5F-CF09-6110E8D42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48BAB7F-3482-70CA-554C-2435F958AE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3D8B33D-06AD-3F18-A45C-FCF85F1B66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6CEA7D-B9CF-8CE0-EA0B-AE12781A2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2815F6E-E2EA-C281-D190-E1EFC8580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AF4FE12-0148-1BE5-4E10-34BCA013F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7065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D8FC0D-7BA8-8EFE-D8E2-FCF3364E1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D2E72AE-3DFC-9C79-9A76-E8459D989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68E0BBC-2B4C-7ADA-FE41-75AD2997A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7C8E05D-3CED-8005-0E54-E54DBC03B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1677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DAF0C9C-1BD1-4B46-6892-2DBAD0544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CD59469-0426-DFB6-CBFB-7105A61E2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EE4B6-7CE2-B8DF-546F-A24BA320C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8114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0C49F7-82F4-4F69-90C1-492A68FB3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0134B4-4B65-9A03-ADD5-C2666DA0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8A4159F-F8FE-C475-592A-0D8348FB3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1BD4D9E-2B80-83B2-575C-F12FA1DC6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936021A-8BDF-FCBB-DFE2-FE7D00F9F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0D54AE5-F6DA-1F4C-20CB-C7465027B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64262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321D84-D031-BD40-DD9B-9AAF93360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FDA7559-5798-2314-EE3F-1D640E4523B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FA580D7-F1AA-E4B1-5724-CFC264F491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8DFEA2-F286-41CF-6CA4-52399C0DD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0DC6DC7-6018-0B83-9E5E-105F96D95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02B730-423D-1570-6A64-6C14D32C4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0235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1CDC8D-95BE-0DDE-CD57-118B8AFE7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9C81D36-9503-BF0E-E43D-4418142C9B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557099-BCB9-1075-C20D-76E2021D0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E6C89F-7995-7708-10A8-E34BD59F6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087AFB-1123-9DDD-2AAE-D23AD3C91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8841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42E6CD-AA65-C1C3-4231-64D8BE03DF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69A1F87-0DDF-D916-EBE3-7EBE049F77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230FA9-8BF3-C1B5-F004-D2684E0EB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EB7DFFF-0AB3-EC23-E08F-1A8C8F4FC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1E0044-9DED-491E-5D4F-77C60791A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940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0FE0139-DD63-783A-6D3C-934F5D73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99101A-B717-BA31-A337-F7B14C230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69E827-D189-988F-8790-6EC56DC344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201DBD-0E3D-42B7-B956-71A8E5FDA91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8533F7-F3A7-CB2A-3102-7B93EF34D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B0928A-86D7-453C-37EF-386BA152E9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1A6613-956C-45BA-BE1E-3C432AF797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1325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r1s1226.github.io/email-eu-core-sna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989E3FD-AFB8-9AC1-ED34-24F383DA52C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756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94C866E-9B90-8FCF-60DF-BC60F1EA738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377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D1DD095-3D2D-8ED7-6B0F-F9F31587001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966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0EF6AED-4F3E-52DD-ABCF-415489599E1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97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7719F28-EC03-4E5B-4B38-FDDDCA23EBC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665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3067917-0E14-6D39-D2C5-4729EC97A22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535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ED17151-48DD-8288-750F-256EC93CA3C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1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073C401-30AD-677F-EB9A-82C93546C87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link: https://r1s1226.github.io/email-eu-core-sna/">
            <a:hlinkClick r:id="rId4"/>
            <a:extLst>
              <a:ext uri="{FF2B5EF4-FFF2-40B4-BE49-F238E27FC236}">
                <a16:creationId xmlns:a16="http://schemas.microsoft.com/office/drawing/2014/main" id="{1BE5CA2A-2A9F-67C6-227C-CD3FA8248B8D}"/>
              </a:ext>
            </a:extLst>
          </p:cNvPr>
          <p:cNvSpPr/>
          <p:nvPr/>
        </p:nvSpPr>
        <p:spPr>
          <a:xfrm>
            <a:off x="1612900" y="5232400"/>
            <a:ext cx="4102100" cy="317500"/>
          </a:xfrm>
          <a:prstGeom prst="rect">
            <a:avLst/>
          </a:prstGeom>
          <a:solidFill>
            <a:srgbClr val="000000">
              <a:alpha val="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7273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C37C261-5519-CA82-2D38-52A6231AFE2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501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C4EA9A3E-4D07-7E4C-27C3-F331286DD91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650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AD35874-395F-0526-95B8-EEA8FB5BC43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427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910</Words>
  <Application>Microsoft Office PowerPoint</Application>
  <PresentationFormat>自定义</PresentationFormat>
  <Paragraphs>25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5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佳升 阮</dc:creator>
  <cp:lastModifiedBy>佳升 阮</cp:lastModifiedBy>
  <cp:revision>1</cp:revision>
  <dcterms:created xsi:type="dcterms:W3CDTF">2026-10-26T01:00:23Z</dcterms:created>
  <dcterms:modified xsi:type="dcterms:W3CDTF">2026-10-26T01:00:23Z</dcterms:modified>
</cp:coreProperties>
</file>