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102D2-35E2-4673-9299-B942999E275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083AB-F185-431B-9B8E-1CD323113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11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저희 팀을 대표해 발표하겠습니다</a:t>
            </a:r>
            <a:r>
              <a:rPr lang="en-US" altLang="ko-KR"/>
              <a:t>. </a:t>
            </a:r>
            <a:r>
              <a:rPr lang="ko-KR" altLang="en-US"/>
              <a:t>저희는 유럽의 한 연구기관 구성원들이 주고받은 이메일 네트워크로</a:t>
            </a:r>
            <a:r>
              <a:rPr lang="en-US" altLang="ko-KR"/>
              <a:t>, </a:t>
            </a:r>
            <a:r>
              <a:rPr lang="ko-KR" altLang="en-US"/>
              <a:t>조직의 핵심 인물과 부서 구조를 분석했습니다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94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데이터는 </a:t>
            </a:r>
            <a:r>
              <a:rPr lang="en-US" altLang="ko-KR"/>
              <a:t>SNAP</a:t>
            </a:r>
            <a:r>
              <a:rPr lang="ko-KR" altLang="en-US"/>
              <a:t>의 </a:t>
            </a:r>
            <a:r>
              <a:rPr lang="en-US" altLang="ko-KR"/>
              <a:t>email-Eu-core</a:t>
            </a:r>
            <a:r>
              <a:rPr lang="ko-KR" altLang="en-US"/>
              <a:t>입니다</a:t>
            </a:r>
            <a:r>
              <a:rPr lang="en-US" altLang="ko-KR"/>
              <a:t>. 1,005</a:t>
            </a:r>
            <a:r>
              <a:rPr lang="ko-KR" altLang="en-US"/>
              <a:t>명이 주고받은 이메일 관계 </a:t>
            </a:r>
            <a:r>
              <a:rPr lang="en-US" altLang="ko-KR"/>
              <a:t>25,571</a:t>
            </a:r>
            <a:r>
              <a:rPr lang="ko-KR" altLang="en-US"/>
              <a:t>개와 </a:t>
            </a:r>
            <a:r>
              <a:rPr lang="en-US" altLang="ko-KR"/>
              <a:t>42</a:t>
            </a:r>
            <a:r>
              <a:rPr lang="ko-KR" altLang="en-US"/>
              <a:t>개 부서 라벨이 있습니다</a:t>
            </a:r>
            <a:r>
              <a:rPr lang="en-US" altLang="ko-KR"/>
              <a:t>. </a:t>
            </a:r>
            <a:r>
              <a:rPr lang="ko-KR" altLang="en-US"/>
              <a:t>자기 루프를 지우고 무방향 그래프로 바꾼 뒤</a:t>
            </a:r>
            <a:r>
              <a:rPr lang="en-US" altLang="ko-KR"/>
              <a:t>, </a:t>
            </a:r>
            <a:r>
              <a:rPr lang="ko-KR" altLang="en-US"/>
              <a:t>가장 큰 연결 요소인 </a:t>
            </a:r>
            <a:r>
              <a:rPr lang="en-US" altLang="ko-KR"/>
              <a:t>986</a:t>
            </a:r>
            <a:r>
              <a:rPr lang="ko-KR" altLang="en-US"/>
              <a:t>명을 분석했습니다</a:t>
            </a:r>
            <a:r>
              <a:rPr lang="en-US" altLang="ko-KR"/>
              <a:t>. </a:t>
            </a:r>
            <a:r>
              <a:rPr lang="ko-KR" altLang="en-US"/>
              <a:t>저희가 세운 가설은 세 가지입니다</a:t>
            </a:r>
            <a:r>
              <a:rPr lang="en-US" altLang="ko-KR"/>
              <a:t>. </a:t>
            </a:r>
            <a:r>
              <a:rPr lang="ko-KR" altLang="en-US"/>
              <a:t>첫째</a:t>
            </a:r>
            <a:r>
              <a:rPr lang="en-US" altLang="ko-KR"/>
              <a:t>, betweenness</a:t>
            </a:r>
            <a:r>
              <a:rPr lang="ko-KR" altLang="en-US"/>
              <a:t>가 높은 사람은 부서를 잇는 연결자이고</a:t>
            </a:r>
            <a:r>
              <a:rPr lang="en-US" altLang="ko-KR"/>
              <a:t>, </a:t>
            </a:r>
            <a:r>
              <a:rPr lang="ko-KR" altLang="en-US"/>
              <a:t>이들을 빼면 네트워크가 쪼개진다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, </a:t>
            </a:r>
            <a:r>
              <a:rPr lang="ko-KR" altLang="en-US"/>
              <a:t>같은 부서끼리 밀집해 있어 연결 구조만으로 부서를 맞힐 수 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, node2vec</a:t>
            </a:r>
            <a:r>
              <a:rPr lang="ko-KR" altLang="en-US"/>
              <a:t>이 </a:t>
            </a:r>
            <a:r>
              <a:rPr lang="en-US" altLang="ko-KR"/>
              <a:t>DeepWalk</a:t>
            </a:r>
            <a:r>
              <a:rPr lang="ko-KR" altLang="en-US"/>
              <a:t>보다</a:t>
            </a:r>
            <a:r>
              <a:rPr lang="en-US" altLang="ko-KR"/>
              <a:t>, GCN</a:t>
            </a:r>
            <a:r>
              <a:rPr lang="ko-KR" altLang="en-US"/>
              <a:t>이 얕은 임베딩보다 부서를 더 잘 맞힌다</a:t>
            </a:r>
            <a:r>
              <a:rPr lang="en-US" altLang="ko-KR"/>
              <a:t>. </a:t>
            </a:r>
            <a:r>
              <a:rPr lang="ko-KR" altLang="en-US"/>
              <a:t>결론부터 말씀드리면</a:t>
            </a:r>
            <a:r>
              <a:rPr lang="en-US" altLang="ko-KR"/>
              <a:t>, </a:t>
            </a:r>
            <a:r>
              <a:rPr lang="ko-KR" altLang="en-US"/>
              <a:t>어느 가설도 처음 형태 그대로는 지지되지 않았습니다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11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 가설 </a:t>
            </a:r>
            <a:r>
              <a:rPr lang="en-US" altLang="ko-KR"/>
              <a:t>1</a:t>
            </a:r>
            <a:r>
              <a:rPr lang="ko-KR" altLang="en-US"/>
              <a:t>입니다</a:t>
            </a:r>
            <a:r>
              <a:rPr lang="en-US" altLang="ko-KR"/>
              <a:t>. betweenness </a:t>
            </a:r>
            <a:r>
              <a:rPr lang="ko-KR" altLang="en-US"/>
              <a:t>상위 </a:t>
            </a:r>
            <a:r>
              <a:rPr lang="en-US" altLang="ko-KR"/>
              <a:t>10</a:t>
            </a:r>
            <a:r>
              <a:rPr lang="ko-KR" altLang="en-US"/>
              <a:t>명은 이웃의 </a:t>
            </a:r>
            <a:r>
              <a:rPr lang="en-US" altLang="ko-KR"/>
              <a:t>93%</a:t>
            </a:r>
            <a:r>
              <a:rPr lang="ko-KR" altLang="en-US"/>
              <a:t>가 다른 부서 사람이고</a:t>
            </a:r>
            <a:r>
              <a:rPr lang="en-US" altLang="ko-KR"/>
              <a:t>, </a:t>
            </a:r>
            <a:r>
              <a:rPr lang="ko-KR" altLang="en-US"/>
              <a:t>평균 </a:t>
            </a:r>
            <a:r>
              <a:rPr lang="en-US" altLang="ko-KR"/>
              <a:t>33.6</a:t>
            </a:r>
            <a:r>
              <a:rPr lang="ko-KR" altLang="en-US"/>
              <a:t>개 부서와 이어져 있어 연결자인 것은 맞습니다</a:t>
            </a:r>
            <a:r>
              <a:rPr lang="en-US" altLang="ko-KR"/>
              <a:t>. </a:t>
            </a:r>
            <a:r>
              <a:rPr lang="ko-KR" altLang="en-US"/>
              <a:t>예를 들어 </a:t>
            </a:r>
            <a:r>
              <a:rPr lang="en-US" altLang="ko-KR"/>
              <a:t>betweenness 1</a:t>
            </a:r>
            <a:r>
              <a:rPr lang="ko-KR" altLang="en-US"/>
              <a:t>위인 </a:t>
            </a:r>
            <a:r>
              <a:rPr lang="en-US" altLang="ko-KR"/>
              <a:t>160</a:t>
            </a:r>
            <a:r>
              <a:rPr lang="ko-KR" altLang="en-US"/>
              <a:t>번 구성원은 </a:t>
            </a:r>
            <a:r>
              <a:rPr lang="en-US" altLang="ko-KR"/>
              <a:t>345</a:t>
            </a:r>
            <a:r>
              <a:rPr lang="ko-KR" altLang="en-US"/>
              <a:t>명과 연락하고</a:t>
            </a:r>
            <a:r>
              <a:rPr lang="en-US" altLang="ko-KR"/>
              <a:t>, 36</a:t>
            </a:r>
            <a:r>
              <a:rPr lang="ko-KR" altLang="en-US"/>
              <a:t>개 부서와 이어져 있습니다</a:t>
            </a:r>
            <a:r>
              <a:rPr lang="en-US" altLang="ko-KR"/>
              <a:t>. </a:t>
            </a:r>
            <a:r>
              <a:rPr lang="ko-KR" altLang="en-US"/>
              <a:t>그런데 연락 상대가 많은 </a:t>
            </a:r>
            <a:r>
              <a:rPr lang="en-US" altLang="ko-KR"/>
              <a:t>degree </a:t>
            </a:r>
            <a:r>
              <a:rPr lang="ko-KR" altLang="en-US"/>
              <a:t>상위 </a:t>
            </a:r>
            <a:r>
              <a:rPr lang="en-US" altLang="ko-KR"/>
              <a:t>10</a:t>
            </a:r>
            <a:r>
              <a:rPr lang="ko-KR" altLang="en-US"/>
              <a:t>명도 </a:t>
            </a:r>
            <a:r>
              <a:rPr lang="en-US" altLang="ko-KR"/>
              <a:t>93%</a:t>
            </a:r>
            <a:r>
              <a:rPr lang="ko-KR" altLang="en-US"/>
              <a:t>로 똑같고</a:t>
            </a:r>
            <a:r>
              <a:rPr lang="en-US" altLang="ko-KR"/>
              <a:t>, </a:t>
            </a:r>
            <a:r>
              <a:rPr lang="ko-KR" altLang="en-US"/>
              <a:t>두 명단 중 </a:t>
            </a:r>
            <a:r>
              <a:rPr lang="en-US" altLang="ko-KR"/>
              <a:t>7</a:t>
            </a:r>
            <a:r>
              <a:rPr lang="ko-KR" altLang="en-US"/>
              <a:t>명이 겹칩니다</a:t>
            </a:r>
            <a:r>
              <a:rPr lang="en-US" altLang="ko-KR"/>
              <a:t>. </a:t>
            </a:r>
            <a:r>
              <a:rPr lang="ko-KR" altLang="en-US"/>
              <a:t>오른쪽의 </a:t>
            </a:r>
            <a:r>
              <a:rPr lang="en-US" altLang="ko-KR"/>
              <a:t>0.93</a:t>
            </a:r>
            <a:r>
              <a:rPr lang="ko-KR" altLang="en-US"/>
              <a:t>은 </a:t>
            </a:r>
            <a:r>
              <a:rPr lang="en-US" altLang="ko-KR"/>
              <a:t>betweenness</a:t>
            </a:r>
            <a:r>
              <a:rPr lang="ko-KR" altLang="en-US"/>
              <a:t>와 </a:t>
            </a:r>
            <a:r>
              <a:rPr lang="en-US" altLang="ko-KR"/>
              <a:t>degree </a:t>
            </a:r>
            <a:r>
              <a:rPr lang="ko-KR" altLang="en-US"/>
              <a:t>순위의 상관계수로</a:t>
            </a:r>
            <a:r>
              <a:rPr lang="en-US" altLang="ko-KR"/>
              <a:t>, </a:t>
            </a:r>
            <a:r>
              <a:rPr lang="ko-KR" altLang="en-US"/>
              <a:t>두 순위가 거의 같다는 뜻입니다</a:t>
            </a:r>
            <a:r>
              <a:rPr lang="en-US" altLang="ko-KR"/>
              <a:t>. </a:t>
            </a:r>
            <a:r>
              <a:rPr lang="ko-KR" altLang="en-US"/>
              <a:t>즉 연결자 역할은 </a:t>
            </a:r>
            <a:r>
              <a:rPr lang="en-US" altLang="ko-KR"/>
              <a:t>betweenness</a:t>
            </a:r>
            <a:r>
              <a:rPr lang="ko-KR" altLang="en-US"/>
              <a:t>가 높은 사람만의 특징이 아니라</a:t>
            </a:r>
            <a:r>
              <a:rPr lang="en-US" altLang="ko-KR"/>
              <a:t>, </a:t>
            </a:r>
            <a:r>
              <a:rPr lang="ko-KR" altLang="en-US"/>
              <a:t>허브들에게 공통된 특징입니다</a:t>
            </a:r>
            <a:r>
              <a:rPr lang="en-US" altLang="ko-KR"/>
              <a:t>. </a:t>
            </a:r>
            <a:r>
              <a:rPr lang="ko-KR" altLang="en-US"/>
              <a:t>참고로 </a:t>
            </a:r>
            <a:r>
              <a:rPr lang="en-US" altLang="ko-KR"/>
              <a:t>betweenness </a:t>
            </a:r>
            <a:r>
              <a:rPr lang="ko-KR" altLang="en-US"/>
              <a:t>상위 </a:t>
            </a:r>
            <a:r>
              <a:rPr lang="en-US" altLang="ko-KR"/>
              <a:t>10</a:t>
            </a:r>
            <a:r>
              <a:rPr lang="ko-KR" altLang="en-US"/>
              <a:t>명 중 </a:t>
            </a:r>
            <a:r>
              <a:rPr lang="en-US" altLang="ko-KR"/>
              <a:t>6</a:t>
            </a:r>
            <a:r>
              <a:rPr lang="ko-KR" altLang="en-US"/>
              <a:t>명은 같은 </a:t>
            </a:r>
            <a:r>
              <a:rPr lang="en-US" altLang="ko-KR"/>
              <a:t>36</a:t>
            </a:r>
            <a:r>
              <a:rPr lang="ko-KR" altLang="en-US"/>
              <a:t>번 부서 소속이어서</a:t>
            </a:r>
            <a:r>
              <a:rPr lang="en-US" altLang="ko-KR"/>
              <a:t>, </a:t>
            </a:r>
            <a:r>
              <a:rPr lang="ko-KR" altLang="en-US"/>
              <a:t>중개 역할이 한 부서에 몰려 있습니다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772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 핵심 인물을 차례로 빼면서 가장 큰 연결 요소가 얼마나 줄어드는지 본 실험입니다</a:t>
            </a:r>
            <a:r>
              <a:rPr lang="en-US" altLang="ko-KR"/>
              <a:t>. </a:t>
            </a:r>
            <a:r>
              <a:rPr lang="ko-KR" altLang="en-US"/>
              <a:t>주황색은 </a:t>
            </a:r>
            <a:r>
              <a:rPr lang="en-US" altLang="ko-KR"/>
              <a:t>betweenness, </a:t>
            </a:r>
            <a:r>
              <a:rPr lang="ko-KR" altLang="en-US"/>
              <a:t>파란색은 </a:t>
            </a:r>
            <a:r>
              <a:rPr lang="en-US" altLang="ko-KR"/>
              <a:t>degree </a:t>
            </a:r>
            <a:r>
              <a:rPr lang="ko-KR" altLang="en-US"/>
              <a:t>순서로 뺀 결과이고</a:t>
            </a:r>
            <a:r>
              <a:rPr lang="en-US" altLang="ko-KR"/>
              <a:t>, </a:t>
            </a:r>
            <a:r>
              <a:rPr lang="ko-KR" altLang="en-US"/>
              <a:t>회색은 무작위 제거입니다</a:t>
            </a:r>
            <a:r>
              <a:rPr lang="en-US" altLang="ko-KR"/>
              <a:t>. </a:t>
            </a:r>
            <a:r>
              <a:rPr lang="ko-KR" altLang="en-US"/>
              <a:t>주황 선은 계산 시간이 오래 걸려서 </a:t>
            </a:r>
            <a:r>
              <a:rPr lang="en-US" altLang="ko-KR"/>
              <a:t>400</a:t>
            </a:r>
            <a:r>
              <a:rPr lang="ko-KR" altLang="en-US"/>
              <a:t>명</a:t>
            </a:r>
            <a:r>
              <a:rPr lang="en-US" altLang="ko-KR"/>
              <a:t>, </a:t>
            </a:r>
            <a:r>
              <a:rPr lang="ko-KR" altLang="en-US"/>
              <a:t>약 </a:t>
            </a:r>
            <a:r>
              <a:rPr lang="en-US" altLang="ko-KR"/>
              <a:t>40%</a:t>
            </a:r>
            <a:r>
              <a:rPr lang="ko-KR" altLang="en-US"/>
              <a:t>까지만 계산했습니다</a:t>
            </a:r>
            <a:r>
              <a:rPr lang="en-US" altLang="ko-KR"/>
              <a:t>. </a:t>
            </a:r>
            <a:r>
              <a:rPr lang="ko-KR" altLang="en-US"/>
              <a:t>무작위로는 </a:t>
            </a:r>
            <a:r>
              <a:rPr lang="en-US" altLang="ko-KR"/>
              <a:t>46.9%</a:t>
            </a:r>
            <a:r>
              <a:rPr lang="ko-KR" altLang="en-US"/>
              <a:t>를 빼야 절반 아래로 떨어지니</a:t>
            </a:r>
            <a:r>
              <a:rPr lang="en-US" altLang="ko-KR"/>
              <a:t>, </a:t>
            </a:r>
            <a:r>
              <a:rPr lang="ko-KR" altLang="en-US"/>
              <a:t>표적 제거가 더 빠릅니다</a:t>
            </a:r>
            <a:r>
              <a:rPr lang="en-US" altLang="ko-KR"/>
              <a:t>. </a:t>
            </a:r>
            <a:r>
              <a:rPr lang="ko-KR" altLang="en-US"/>
              <a:t>하지만 표적 제거로도 절반 아래로 떨어뜨리려면 </a:t>
            </a:r>
            <a:r>
              <a:rPr lang="en-US" altLang="ko-KR"/>
              <a:t>betweenness </a:t>
            </a:r>
            <a:r>
              <a:rPr lang="ko-KR" altLang="en-US"/>
              <a:t>순으로 </a:t>
            </a:r>
            <a:r>
              <a:rPr lang="en-US" altLang="ko-KR"/>
              <a:t>30.4%, degree </a:t>
            </a:r>
            <a:r>
              <a:rPr lang="ko-KR" altLang="en-US"/>
              <a:t>순으로 </a:t>
            </a:r>
            <a:r>
              <a:rPr lang="en-US" altLang="ko-KR"/>
              <a:t>33.0%</a:t>
            </a:r>
            <a:r>
              <a:rPr lang="ko-KR" altLang="en-US"/>
              <a:t>를 빼야 합니다</a:t>
            </a:r>
            <a:r>
              <a:rPr lang="en-US" altLang="ko-KR"/>
              <a:t>. </a:t>
            </a:r>
            <a:r>
              <a:rPr lang="ko-KR" altLang="en-US"/>
              <a:t>두 번째로 큰 연결 요소도 </a:t>
            </a:r>
            <a:r>
              <a:rPr lang="en-US" altLang="ko-KR"/>
              <a:t>8%</a:t>
            </a:r>
            <a:r>
              <a:rPr lang="ko-KR" altLang="en-US"/>
              <a:t>를 넘지 않아</a:t>
            </a:r>
            <a:r>
              <a:rPr lang="en-US" altLang="ko-KR"/>
              <a:t>, </a:t>
            </a:r>
            <a:r>
              <a:rPr lang="ko-KR" altLang="en-US"/>
              <a:t>네트워크는 쪼개지기보다 조금씩 깎여 나갑니다</a:t>
            </a:r>
            <a:r>
              <a:rPr lang="en-US" altLang="ko-KR"/>
              <a:t>. </a:t>
            </a:r>
            <a:r>
              <a:rPr lang="ko-KR" altLang="en-US"/>
              <a:t>그래서 가설 </a:t>
            </a:r>
            <a:r>
              <a:rPr lang="en-US" altLang="ko-KR"/>
              <a:t>1</a:t>
            </a:r>
            <a:r>
              <a:rPr lang="ko-KR" altLang="en-US"/>
              <a:t>은 ‘표적 제거가 더 효과적이지만 핵심 구조는 견고하다’로 수정합니다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71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다음은 가설 </a:t>
            </a:r>
            <a:r>
              <a:rPr lang="en-US" altLang="ko-KR"/>
              <a:t>2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같은 부서끼리 이어진 간선은 </a:t>
            </a:r>
            <a:r>
              <a:rPr lang="en-US" altLang="ko-KR"/>
              <a:t>33.6%</a:t>
            </a:r>
            <a:r>
              <a:rPr lang="ko-KR" altLang="en-US"/>
              <a:t>로</a:t>
            </a:r>
            <a:r>
              <a:rPr lang="en-US" altLang="ko-KR"/>
              <a:t>, </a:t>
            </a:r>
            <a:r>
              <a:rPr lang="ko-KR" altLang="en-US"/>
              <a:t>부서 라벨을 무작위로 섞었을 때의 </a:t>
            </a:r>
            <a:r>
              <a:rPr lang="en-US" altLang="ko-KR"/>
              <a:t>4.7%</a:t>
            </a:r>
            <a:r>
              <a:rPr lang="ko-KR" altLang="en-US"/>
              <a:t>보다 훨씬 많습니다</a:t>
            </a:r>
            <a:r>
              <a:rPr lang="en-US" altLang="ko-KR"/>
              <a:t>. </a:t>
            </a:r>
            <a:r>
              <a:rPr lang="ko-KR" altLang="en-US"/>
              <a:t>하지만 한 사람의 이웃 중 같은 부서는 평균 </a:t>
            </a:r>
            <a:r>
              <a:rPr lang="en-US" altLang="ko-KR"/>
              <a:t>46%</a:t>
            </a:r>
            <a:r>
              <a:rPr lang="ko-KR" altLang="en-US"/>
              <a:t>로 절반이 안 됩니다</a:t>
            </a:r>
            <a:r>
              <a:rPr lang="en-US" altLang="ko-KR"/>
              <a:t>. </a:t>
            </a:r>
            <a:r>
              <a:rPr lang="ko-KR" altLang="en-US"/>
              <a:t>그래서 동종선호는 유의하지만</a:t>
            </a:r>
            <a:r>
              <a:rPr lang="en-US" altLang="ko-KR"/>
              <a:t>, </a:t>
            </a:r>
            <a:r>
              <a:rPr lang="ko-KR" altLang="en-US"/>
              <a:t>밀집이라고 하기에는 약합니다</a:t>
            </a:r>
            <a:r>
              <a:rPr lang="en-US" altLang="ko-KR"/>
              <a:t>. </a:t>
            </a:r>
            <a:r>
              <a:rPr lang="ko-KR" altLang="en-US"/>
              <a:t>그래도 연결 구조만으로 부서를 꽤 잘 맞힙니다</a:t>
            </a:r>
            <a:r>
              <a:rPr lang="en-US" altLang="ko-KR"/>
              <a:t>. </a:t>
            </a:r>
            <a:r>
              <a:rPr lang="ko-KR" altLang="en-US"/>
              <a:t>왼쪽 </a:t>
            </a:r>
            <a:r>
              <a:rPr lang="en-US" altLang="ko-KR"/>
              <a:t>t-SNE</a:t>
            </a:r>
            <a:r>
              <a:rPr lang="ko-KR" altLang="en-US"/>
              <a:t>에서 큰 부서들이 대체로 각자 모여 있습니다</a:t>
            </a:r>
            <a:r>
              <a:rPr lang="en-US" altLang="ko-KR"/>
              <a:t>. DeepWalk </a:t>
            </a:r>
            <a:r>
              <a:rPr lang="ko-KR" altLang="en-US"/>
              <a:t>임베딩에 로지스틱 회귀를 쓰고 라벨의 </a:t>
            </a:r>
            <a:r>
              <a:rPr lang="en-US" altLang="ko-KR"/>
              <a:t>80%</a:t>
            </a:r>
            <a:r>
              <a:rPr lang="ko-KR" altLang="en-US"/>
              <a:t>로 학습했더니</a:t>
            </a:r>
            <a:r>
              <a:rPr lang="en-US" altLang="ko-KR"/>
              <a:t>, 5</a:t>
            </a:r>
            <a:r>
              <a:rPr lang="ko-KR" altLang="en-US"/>
              <a:t>명 미만인 작은 부서 </a:t>
            </a:r>
            <a:r>
              <a:rPr lang="en-US" altLang="ko-KR"/>
              <a:t>7</a:t>
            </a:r>
            <a:r>
              <a:rPr lang="ko-KR" altLang="en-US"/>
              <a:t>개를 뺀 </a:t>
            </a:r>
            <a:r>
              <a:rPr lang="en-US" altLang="ko-KR"/>
              <a:t>35</a:t>
            </a:r>
            <a:r>
              <a:rPr lang="ko-KR" altLang="en-US"/>
              <a:t>개 부서 분류에서 정확도는 </a:t>
            </a:r>
            <a:r>
              <a:rPr lang="en-US" altLang="ko-KR"/>
              <a:t>0.76, Macro-F1</a:t>
            </a:r>
            <a:r>
              <a:rPr lang="ko-KR" altLang="en-US"/>
              <a:t>은 </a:t>
            </a:r>
            <a:r>
              <a:rPr lang="en-US" altLang="ko-KR"/>
              <a:t>0.65</a:t>
            </a:r>
            <a:r>
              <a:rPr lang="ko-KR" altLang="en-US"/>
              <a:t>였습니다</a:t>
            </a:r>
            <a:r>
              <a:rPr lang="en-US" altLang="ko-KR"/>
              <a:t>. </a:t>
            </a:r>
            <a:r>
              <a:rPr lang="ko-KR" altLang="en-US"/>
              <a:t>다수 클래스 기준선은 </a:t>
            </a:r>
            <a:r>
              <a:rPr lang="en-US" altLang="ko-KR"/>
              <a:t>0.11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그래서 가설 </a:t>
            </a:r>
            <a:r>
              <a:rPr lang="en-US" altLang="ko-KR"/>
              <a:t>2</a:t>
            </a:r>
            <a:r>
              <a:rPr lang="ko-KR" altLang="en-US"/>
              <a:t>는 부분 지지입니다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700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마지막으로 가설 </a:t>
            </a:r>
            <a:r>
              <a:rPr lang="en-US" altLang="ko-KR"/>
              <a:t>3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왼쪽 그림처럼 </a:t>
            </a:r>
            <a:r>
              <a:rPr lang="en-US" altLang="ko-KR"/>
              <a:t>node2vec</a:t>
            </a:r>
            <a:r>
              <a:rPr lang="ko-KR" altLang="en-US"/>
              <a:t>의 </a:t>
            </a:r>
            <a:r>
              <a:rPr lang="en-US" altLang="ko-KR"/>
              <a:t>q</a:t>
            </a:r>
            <a:r>
              <a:rPr lang="ko-KR" altLang="en-US"/>
              <a:t>를 </a:t>
            </a:r>
            <a:r>
              <a:rPr lang="en-US" altLang="ko-KR"/>
              <a:t>0.5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로 바꿔 봐도</a:t>
            </a:r>
            <a:r>
              <a:rPr lang="en-US" altLang="ko-KR"/>
              <a:t>, DeepWalk</a:t>
            </a:r>
            <a:r>
              <a:rPr lang="ko-KR" altLang="en-US"/>
              <a:t>와의 차이는 시드에 따른 변동 정도입니다</a:t>
            </a:r>
            <a:r>
              <a:rPr lang="en-US" altLang="ko-KR"/>
              <a:t>. </a:t>
            </a:r>
            <a:r>
              <a:rPr lang="ko-KR" altLang="en-US"/>
              <a:t>그래서 시험한 설정에서는 </a:t>
            </a:r>
            <a:r>
              <a:rPr lang="en-US" altLang="ko-KR"/>
              <a:t>node2vec</a:t>
            </a:r>
            <a:r>
              <a:rPr lang="ko-KR" altLang="en-US"/>
              <a:t>이 낫다고 할 수 없습니다</a:t>
            </a:r>
            <a:r>
              <a:rPr lang="en-US" altLang="ko-KR"/>
              <a:t>. </a:t>
            </a:r>
            <a:r>
              <a:rPr lang="ko-KR" altLang="en-US"/>
              <a:t>오른쪽에서 회색은 학습 없는 기준선</a:t>
            </a:r>
            <a:r>
              <a:rPr lang="en-US" altLang="ko-KR"/>
              <a:t>, </a:t>
            </a:r>
            <a:r>
              <a:rPr lang="ko-KR" altLang="en-US"/>
              <a:t>파란색은 </a:t>
            </a:r>
            <a:r>
              <a:rPr lang="en-US" altLang="ko-KR"/>
              <a:t>DeepWalk </a:t>
            </a:r>
            <a:r>
              <a:rPr lang="ko-KR" altLang="en-US"/>
              <a:t>임베딩에 분류기를 붙인 방법입니다</a:t>
            </a:r>
            <a:r>
              <a:rPr lang="en-US" altLang="ko-KR"/>
              <a:t>. GCN</a:t>
            </a:r>
            <a:r>
              <a:rPr lang="ko-KR" altLang="en-US"/>
              <a:t>은 </a:t>
            </a:r>
            <a:r>
              <a:rPr lang="en-US" altLang="ko-KR"/>
              <a:t>Macro-F1 0.668</a:t>
            </a:r>
            <a:r>
              <a:rPr lang="ko-KR" altLang="en-US"/>
              <a:t>로 가장 높았고</a:t>
            </a:r>
            <a:r>
              <a:rPr lang="en-US" altLang="ko-KR"/>
              <a:t>, </a:t>
            </a:r>
            <a:r>
              <a:rPr lang="ko-KR" altLang="en-US"/>
              <a:t>같은 </a:t>
            </a:r>
            <a:r>
              <a:rPr lang="en-US" altLang="ko-KR"/>
              <a:t>DeepWalk </a:t>
            </a:r>
            <a:r>
              <a:rPr lang="ko-KR" altLang="en-US"/>
              <a:t>특징을 쓰되 그래프 연결만 뺀 </a:t>
            </a:r>
            <a:r>
              <a:rPr lang="en-US" altLang="ko-KR"/>
              <a:t>MLP</a:t>
            </a:r>
            <a:r>
              <a:rPr lang="ko-KR" altLang="en-US"/>
              <a:t>보다 </a:t>
            </a:r>
            <a:r>
              <a:rPr lang="en-US" altLang="ko-KR"/>
              <a:t>0.033 </a:t>
            </a:r>
            <a:r>
              <a:rPr lang="ko-KR" altLang="en-US"/>
              <a:t>높았습니다</a:t>
            </a:r>
            <a:r>
              <a:rPr lang="en-US" altLang="ko-KR"/>
              <a:t>. 5</a:t>
            </a:r>
            <a:r>
              <a:rPr lang="ko-KR" altLang="en-US"/>
              <a:t>개 </a:t>
            </a:r>
            <a:r>
              <a:rPr lang="en-US" altLang="ko-KR"/>
              <a:t>fold </a:t>
            </a:r>
            <a:r>
              <a:rPr lang="ko-KR" altLang="en-US"/>
              <a:t>중 </a:t>
            </a:r>
            <a:r>
              <a:rPr lang="en-US" altLang="ko-KR"/>
              <a:t>4</a:t>
            </a:r>
            <a:r>
              <a:rPr lang="ko-KR" altLang="en-US"/>
              <a:t>개에서 앞섰지만</a:t>
            </a:r>
            <a:r>
              <a:rPr lang="en-US" altLang="ko-KR"/>
              <a:t>, </a:t>
            </a:r>
            <a:r>
              <a:rPr lang="ko-KR" altLang="en-US"/>
              <a:t>분할 하나와 임베딩 시드 하나로 얻은 예비 결과입니다</a:t>
            </a:r>
            <a:r>
              <a:rPr lang="en-US" altLang="ko-KR"/>
              <a:t>. </a:t>
            </a:r>
            <a:r>
              <a:rPr lang="ko-KR" altLang="en-US"/>
              <a:t>그래서 가설 </a:t>
            </a:r>
            <a:r>
              <a:rPr lang="en-US" altLang="ko-KR"/>
              <a:t>3</a:t>
            </a:r>
            <a:r>
              <a:rPr lang="ko-KR" altLang="en-US"/>
              <a:t>도 부분 지지입니다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372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정리하겠습니다</a:t>
            </a:r>
            <a:r>
              <a:rPr lang="en-US" altLang="ko-KR"/>
              <a:t>. </a:t>
            </a:r>
            <a:r>
              <a:rPr lang="ko-KR" altLang="en-US"/>
              <a:t>가설 </a:t>
            </a:r>
            <a:r>
              <a:rPr lang="en-US" altLang="ko-KR"/>
              <a:t>1</a:t>
            </a:r>
            <a:r>
              <a:rPr lang="ko-KR" altLang="en-US"/>
              <a:t>은 수정</a:t>
            </a:r>
            <a:r>
              <a:rPr lang="en-US" altLang="ko-KR"/>
              <a:t>, </a:t>
            </a:r>
            <a:r>
              <a:rPr lang="ko-KR" altLang="en-US"/>
              <a:t>가설 </a:t>
            </a:r>
            <a:r>
              <a:rPr lang="en-US" altLang="ko-KR"/>
              <a:t>2</a:t>
            </a:r>
            <a:r>
              <a:rPr lang="ko-KR" altLang="en-US"/>
              <a:t>와 </a:t>
            </a:r>
            <a:r>
              <a:rPr lang="en-US" altLang="ko-KR"/>
              <a:t>3</a:t>
            </a:r>
            <a:r>
              <a:rPr lang="ko-KR" altLang="en-US"/>
              <a:t>은 부분 지지입니다</a:t>
            </a:r>
            <a:r>
              <a:rPr lang="en-US" altLang="ko-KR"/>
              <a:t>. </a:t>
            </a:r>
            <a:r>
              <a:rPr lang="ko-KR" altLang="en-US"/>
              <a:t>연결자 역할은 허브의 공통 특징이었고</a:t>
            </a:r>
            <a:r>
              <a:rPr lang="en-US" altLang="ko-KR"/>
              <a:t>, </a:t>
            </a:r>
            <a:r>
              <a:rPr lang="ko-KR" altLang="en-US"/>
              <a:t>네트워크는 쉽게 쪼개지지 않았습니다</a:t>
            </a:r>
            <a:r>
              <a:rPr lang="en-US" altLang="ko-KR"/>
              <a:t>. </a:t>
            </a:r>
            <a:r>
              <a:rPr lang="ko-KR" altLang="en-US"/>
              <a:t>동종선호는 약했지만 구조만으로 부서를 맞힐 수 있었습니다</a:t>
            </a:r>
            <a:r>
              <a:rPr lang="en-US" altLang="ko-KR"/>
              <a:t>. node2vec</a:t>
            </a:r>
            <a:r>
              <a:rPr lang="ko-KR" altLang="en-US"/>
              <a:t>의 우위는 보이지 않았고</a:t>
            </a:r>
            <a:r>
              <a:rPr lang="en-US" altLang="ko-KR"/>
              <a:t>, GCN</a:t>
            </a:r>
            <a:r>
              <a:rPr lang="ko-KR" altLang="en-US"/>
              <a:t>은 </a:t>
            </a:r>
            <a:r>
              <a:rPr lang="en-US" altLang="ko-KR"/>
              <a:t>MLP</a:t>
            </a:r>
            <a:r>
              <a:rPr lang="ko-KR" altLang="en-US"/>
              <a:t>보다 조금 앞섰지만 아직 예비 결과입니다</a:t>
            </a:r>
            <a:r>
              <a:rPr lang="en-US" altLang="ko-KR"/>
              <a:t>. </a:t>
            </a:r>
            <a:r>
              <a:rPr lang="ko-KR" altLang="en-US"/>
              <a:t>조직 관점에서는 세 가지를 말씀드릴 수 있습니다</a:t>
            </a:r>
            <a:r>
              <a:rPr lang="en-US" altLang="ko-KR"/>
              <a:t>. </a:t>
            </a:r>
            <a:r>
              <a:rPr lang="ko-KR" altLang="en-US"/>
              <a:t>첫째</a:t>
            </a:r>
            <a:r>
              <a:rPr lang="en-US" altLang="ko-KR"/>
              <a:t>, </a:t>
            </a:r>
            <a:r>
              <a:rPr lang="ko-KR" altLang="en-US"/>
              <a:t>상위 </a:t>
            </a:r>
            <a:r>
              <a:rPr lang="en-US" altLang="ko-KR"/>
              <a:t>10</a:t>
            </a:r>
            <a:r>
              <a:rPr lang="ko-KR" altLang="en-US"/>
              <a:t>명</a:t>
            </a:r>
            <a:r>
              <a:rPr lang="en-US" altLang="ko-KR"/>
              <a:t>, </a:t>
            </a:r>
            <a:r>
              <a:rPr lang="ko-KR" altLang="en-US"/>
              <a:t>즉 </a:t>
            </a:r>
            <a:r>
              <a:rPr lang="en-US" altLang="ko-KR"/>
              <a:t>1%</a:t>
            </a:r>
            <a:r>
              <a:rPr lang="ko-KR" altLang="en-US"/>
              <a:t>가 </a:t>
            </a:r>
            <a:r>
              <a:rPr lang="en-US" altLang="ko-KR"/>
              <a:t>betweenness </a:t>
            </a:r>
            <a:r>
              <a:rPr lang="ko-KR" altLang="en-US"/>
              <a:t>총합의 </a:t>
            </a:r>
            <a:r>
              <a:rPr lang="en-US" altLang="ko-KR"/>
              <a:t>21%</a:t>
            </a:r>
            <a:r>
              <a:rPr lang="ko-KR" altLang="en-US"/>
              <a:t>를 차지할 만큼 부서 간 중개가 몰려 있으니</a:t>
            </a:r>
            <a:r>
              <a:rPr lang="en-US" altLang="ko-KR"/>
              <a:t>, </a:t>
            </a:r>
            <a:r>
              <a:rPr lang="ko-KR" altLang="en-US"/>
              <a:t>이들의 연락 부담을 살펴봐야 합니다</a:t>
            </a:r>
            <a:r>
              <a:rPr lang="en-US" altLang="ko-KR"/>
              <a:t>. </a:t>
            </a:r>
            <a:r>
              <a:rPr lang="ko-KR" altLang="en-US"/>
              <a:t>둘째</a:t>
            </a:r>
            <a:r>
              <a:rPr lang="en-US" altLang="ko-KR"/>
              <a:t>, </a:t>
            </a:r>
            <a:r>
              <a:rPr lang="ko-KR" altLang="en-US"/>
              <a:t>허브가 빠져도 핵심부는 유지되지만</a:t>
            </a:r>
            <a:r>
              <a:rPr lang="en-US" altLang="ko-KR"/>
              <a:t>, </a:t>
            </a:r>
            <a:r>
              <a:rPr lang="ko-KR" altLang="en-US"/>
              <a:t>연결이 적은 구성원은 고립되지 않게 챙겨야 합니다</a:t>
            </a:r>
            <a:r>
              <a:rPr lang="en-US" altLang="ko-KR"/>
              <a:t>. </a:t>
            </a:r>
            <a:r>
              <a:rPr lang="ko-KR" altLang="en-US"/>
              <a:t>셋째</a:t>
            </a:r>
            <a:r>
              <a:rPr lang="en-US" altLang="ko-KR"/>
              <a:t>, </a:t>
            </a:r>
            <a:r>
              <a:rPr lang="ko-KR" altLang="en-US"/>
              <a:t>연락 기록만으로 소속을 추론할 수 있으니</a:t>
            </a:r>
            <a:r>
              <a:rPr lang="en-US" altLang="ko-KR"/>
              <a:t>, </a:t>
            </a:r>
            <a:r>
              <a:rPr lang="ko-KR" altLang="en-US"/>
              <a:t>메타데이터도 프라이버시 보호 대상으로 다뤄야 합니다</a:t>
            </a:r>
            <a:r>
              <a:rPr lang="en-US" altLang="ko-KR"/>
              <a:t>. </a:t>
            </a:r>
            <a:r>
              <a:rPr lang="ko-KR" altLang="en-US"/>
              <a:t>다만 방향 정보를 쓰지 않았고 데이터 분할도 하나뿐이어서</a:t>
            </a:r>
            <a:r>
              <a:rPr lang="en-US" altLang="ko-KR"/>
              <a:t>, </a:t>
            </a:r>
            <a:r>
              <a:rPr lang="ko-KR" altLang="en-US"/>
              <a:t>이 부분은 다음 과제로 남겨 두었습니다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00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이상으로 발표를 마치겠습니다</a:t>
            </a:r>
            <a:r>
              <a:rPr lang="en-US" altLang="ko-KR"/>
              <a:t>. </a:t>
            </a:r>
            <a:r>
              <a:rPr lang="ko-KR" altLang="en-US"/>
              <a:t>결과와 인터랙티브 그래프는 화면의 웹사이트에서 직접 보실 수 있습니다</a:t>
            </a:r>
            <a:r>
              <a:rPr lang="en-US" altLang="ko-KR"/>
              <a:t>. </a:t>
            </a:r>
            <a:r>
              <a:rPr lang="ko-KR" altLang="en-US"/>
              <a:t>감사합니다</a:t>
            </a:r>
            <a:r>
              <a:rPr lang="en-US" altLang="ko-KR"/>
              <a:t>. </a:t>
            </a:r>
            <a:r>
              <a:rPr lang="ko-KR" altLang="en-US"/>
              <a:t>질문 받겠습니다</a:t>
            </a:r>
            <a:r>
              <a:rPr lang="en-US" altLang="ko-KR"/>
              <a:t>. (</a:t>
            </a:r>
            <a:r>
              <a:rPr lang="ko-KR" altLang="en-US"/>
              <a:t>질문이 나오면 뒤의 부록 슬라이드를 활용</a:t>
            </a:r>
            <a:r>
              <a:rPr lang="en-US" altLang="ko-KR"/>
              <a:t>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595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백업 슬라이드</a:t>
            </a:r>
            <a:r>
              <a:rPr lang="en-US" altLang="ko-KR"/>
              <a:t>]</a:t>
            </a:r>
          </a:p>
          <a:p>
            <a:r>
              <a:rPr lang="ko-KR" altLang="en-US"/>
              <a:t>정확도나 기준선을 묻는 질문이 나오면 사용합니다</a:t>
            </a:r>
            <a:r>
              <a:rPr lang="en-US" altLang="ko-KR"/>
              <a:t>. </a:t>
            </a:r>
            <a:r>
              <a:rPr lang="ko-KR" altLang="en-US"/>
              <a:t>왼쪽은 시드 </a:t>
            </a:r>
            <a:r>
              <a:rPr lang="en-US" altLang="ko-KR"/>
              <a:t>0 </a:t>
            </a:r>
            <a:r>
              <a:rPr lang="ko-KR" altLang="en-US"/>
              <a:t>임베딩으로 같은 </a:t>
            </a:r>
            <a:r>
              <a:rPr lang="en-US" altLang="ko-KR"/>
              <a:t>5-fold</a:t>
            </a:r>
            <a:r>
              <a:rPr lang="ko-KR" altLang="en-US"/>
              <a:t>에서 비교한 값이고</a:t>
            </a:r>
            <a:r>
              <a:rPr lang="en-US" altLang="ko-KR"/>
              <a:t>, </a:t>
            </a:r>
            <a:r>
              <a:rPr lang="ko-KR" altLang="en-US"/>
              <a:t>오른쪽은 임베딩 시드 </a:t>
            </a:r>
            <a:r>
              <a:rPr lang="en-US" altLang="ko-KR"/>
              <a:t>3</a:t>
            </a:r>
            <a:r>
              <a:rPr lang="ko-KR" altLang="en-US"/>
              <a:t>개의 평균입니다</a:t>
            </a:r>
            <a:r>
              <a:rPr lang="en-US" altLang="ko-KR"/>
              <a:t>. GCN</a:t>
            </a:r>
            <a:r>
              <a:rPr lang="ko-KR" altLang="en-US"/>
              <a:t>과 </a:t>
            </a:r>
            <a:r>
              <a:rPr lang="en-US" altLang="ko-KR"/>
              <a:t>MLP</a:t>
            </a:r>
            <a:r>
              <a:rPr lang="ko-KR" altLang="en-US"/>
              <a:t>를 </a:t>
            </a:r>
            <a:r>
              <a:rPr lang="en-US" altLang="ko-KR"/>
              <a:t>fold</a:t>
            </a:r>
            <a:r>
              <a:rPr lang="ko-KR" altLang="en-US"/>
              <a:t>별로 짝지어 비교하면 </a:t>
            </a:r>
            <a:r>
              <a:rPr lang="en-US" altLang="ko-KR"/>
              <a:t>Macro-F1</a:t>
            </a:r>
            <a:r>
              <a:rPr lang="ko-KR" altLang="en-US"/>
              <a:t>은 평균 </a:t>
            </a:r>
            <a:r>
              <a:rPr lang="en-US" altLang="ko-KR"/>
              <a:t>0.033, </a:t>
            </a:r>
            <a:r>
              <a:rPr lang="ko-KR" altLang="en-US"/>
              <a:t>정확도는 </a:t>
            </a:r>
            <a:r>
              <a:rPr lang="en-US" altLang="ko-KR"/>
              <a:t>0.021 </a:t>
            </a:r>
            <a:r>
              <a:rPr lang="ko-KR" altLang="en-US"/>
              <a:t>높았고</a:t>
            </a:r>
            <a:r>
              <a:rPr lang="en-US" altLang="ko-KR"/>
              <a:t>, 5</a:t>
            </a:r>
            <a:r>
              <a:rPr lang="ko-KR" altLang="en-US"/>
              <a:t>개 </a:t>
            </a:r>
            <a:r>
              <a:rPr lang="en-US" altLang="ko-KR"/>
              <a:t>fold </a:t>
            </a:r>
            <a:r>
              <a:rPr lang="ko-KR" altLang="en-US"/>
              <a:t>중 </a:t>
            </a:r>
            <a:r>
              <a:rPr lang="en-US" altLang="ko-KR"/>
              <a:t>4</a:t>
            </a:r>
            <a:r>
              <a:rPr lang="ko-KR" altLang="en-US"/>
              <a:t>개에서 </a:t>
            </a:r>
            <a:r>
              <a:rPr lang="en-US" altLang="ko-KR"/>
              <a:t>GCN</a:t>
            </a:r>
            <a:r>
              <a:rPr lang="ko-KR" altLang="en-US"/>
              <a:t>이 앞섰습니다</a:t>
            </a:r>
            <a:r>
              <a:rPr lang="en-US" altLang="ko-KR"/>
              <a:t>. label spreading</a:t>
            </a:r>
            <a:r>
              <a:rPr lang="ko-KR" altLang="en-US"/>
              <a:t>의 </a:t>
            </a:r>
            <a:r>
              <a:rPr lang="en-US" altLang="ko-KR"/>
              <a:t>α</a:t>
            </a:r>
            <a:r>
              <a:rPr lang="ko-KR" altLang="en-US"/>
              <a:t>는 테스트 결과를 본 뒤 기본값 </a:t>
            </a:r>
            <a:r>
              <a:rPr lang="en-US" altLang="ko-KR"/>
              <a:t>0.2</a:t>
            </a:r>
            <a:r>
              <a:rPr lang="ko-KR" altLang="en-US"/>
              <a:t>로 바꿨기 때문에</a:t>
            </a:r>
            <a:r>
              <a:rPr lang="en-US" altLang="ko-KR"/>
              <a:t>, </a:t>
            </a:r>
            <a:r>
              <a:rPr lang="ko-KR" altLang="en-US"/>
              <a:t>이 기준선은 약간 낙관적일 수 있습니다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9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백업 슬라이드</a:t>
            </a:r>
            <a:r>
              <a:rPr lang="en-US" altLang="ko-KR"/>
              <a:t>]</a:t>
            </a:r>
          </a:p>
          <a:p>
            <a:r>
              <a:rPr lang="ko-KR" altLang="en-US"/>
              <a:t>동종선호가 얼마나 강한지 묻는 질문이 나오면 사용합니다</a:t>
            </a:r>
            <a:r>
              <a:rPr lang="en-US" altLang="ko-KR"/>
              <a:t>. assortativity</a:t>
            </a:r>
            <a:r>
              <a:rPr lang="ko-KR" altLang="en-US"/>
              <a:t>는 </a:t>
            </a:r>
            <a:r>
              <a:rPr lang="en-US" altLang="ko-KR"/>
              <a:t>0.30, </a:t>
            </a:r>
            <a:r>
              <a:rPr lang="ko-KR" altLang="en-US"/>
              <a:t>부서를 커뮤니티로 본 </a:t>
            </a:r>
            <a:r>
              <a:rPr lang="en-US" altLang="ko-KR"/>
              <a:t>modularity</a:t>
            </a:r>
            <a:r>
              <a:rPr lang="ko-KR" altLang="en-US"/>
              <a:t>는 </a:t>
            </a:r>
            <a:r>
              <a:rPr lang="en-US" altLang="ko-KR"/>
              <a:t>0.29</a:t>
            </a:r>
            <a:r>
              <a:rPr lang="ko-KR" altLang="en-US"/>
              <a:t>입니다</a:t>
            </a:r>
            <a:r>
              <a:rPr lang="en-US" altLang="ko-KR"/>
              <a:t>. 18</a:t>
            </a:r>
            <a:r>
              <a:rPr lang="ko-KR" altLang="en-US"/>
              <a:t>명짜리 최대 </a:t>
            </a:r>
            <a:r>
              <a:rPr lang="en-US" altLang="ko-KR"/>
              <a:t>clique 56</a:t>
            </a:r>
            <a:r>
              <a:rPr lang="ko-KR" altLang="en-US"/>
              <a:t>개 중 한 부서 사람이 </a:t>
            </a:r>
            <a:r>
              <a:rPr lang="en-US" altLang="ko-KR"/>
              <a:t>80% </a:t>
            </a:r>
            <a:r>
              <a:rPr lang="ko-KR" altLang="en-US"/>
              <a:t>이상인 것은 </a:t>
            </a:r>
            <a:r>
              <a:rPr lang="en-US" altLang="ko-KR"/>
              <a:t>4</a:t>
            </a:r>
            <a:r>
              <a:rPr lang="ko-KR" altLang="en-US"/>
              <a:t>개뿐이고</a:t>
            </a:r>
            <a:r>
              <a:rPr lang="en-US" altLang="ko-KR"/>
              <a:t>, </a:t>
            </a:r>
            <a:r>
              <a:rPr lang="ko-KR" altLang="en-US"/>
              <a:t>가장 촘촘한 </a:t>
            </a:r>
            <a:r>
              <a:rPr lang="en-US" altLang="ko-KR"/>
              <a:t>34-core</a:t>
            </a:r>
            <a:r>
              <a:rPr lang="ko-KR" altLang="en-US"/>
              <a:t>의 </a:t>
            </a:r>
            <a:r>
              <a:rPr lang="en-US" altLang="ko-KR"/>
              <a:t>79</a:t>
            </a:r>
            <a:r>
              <a:rPr lang="ko-KR" altLang="en-US"/>
              <a:t>명도 </a:t>
            </a:r>
            <a:r>
              <a:rPr lang="en-US" altLang="ko-KR"/>
              <a:t>28</a:t>
            </a:r>
            <a:r>
              <a:rPr lang="ko-KR" altLang="en-US"/>
              <a:t>개 부서에 걸쳐 있습니다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418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백업 슬라이드</a:t>
            </a:r>
            <a:r>
              <a:rPr lang="en-US" altLang="ko-KR"/>
              <a:t>]</a:t>
            </a:r>
          </a:p>
          <a:p>
            <a:r>
              <a:rPr lang="ko-KR" altLang="en-US"/>
              <a:t>한계나 향후 과제를 묻는 질문이 나오면 사용합니다</a:t>
            </a:r>
            <a:r>
              <a:rPr lang="en-US" altLang="ko-KR"/>
              <a:t>. </a:t>
            </a:r>
            <a:r>
              <a:rPr lang="ko-KR" altLang="en-US"/>
              <a:t>가장 큰 한계는 방향 정보를 버린 것입니다</a:t>
            </a:r>
            <a:r>
              <a:rPr lang="en-US" altLang="ko-KR"/>
              <a:t>. </a:t>
            </a:r>
            <a:r>
              <a:rPr lang="ko-KR" altLang="en-US"/>
              <a:t>관계의 약 </a:t>
            </a:r>
            <a:r>
              <a:rPr lang="en-US" altLang="ko-KR"/>
              <a:t>45%</a:t>
            </a:r>
            <a:r>
              <a:rPr lang="ko-KR" altLang="en-US"/>
              <a:t>가 한쪽 방향뿐인데</a:t>
            </a:r>
            <a:r>
              <a:rPr lang="en-US" altLang="ko-KR"/>
              <a:t>, </a:t>
            </a:r>
            <a:r>
              <a:rPr lang="ko-KR" altLang="en-US"/>
              <a:t>무방향으로 바꾸면서 이 정보가 사라졌습니다</a:t>
            </a:r>
            <a:r>
              <a:rPr lang="en-US" altLang="ko-KR"/>
              <a:t>. </a:t>
            </a:r>
            <a:r>
              <a:rPr lang="ko-KR" altLang="en-US"/>
              <a:t>또 데이터 분할이 하나뿐이고 하이퍼파라미터 튜닝도 하지 않았습니다</a:t>
            </a:r>
            <a:r>
              <a:rPr lang="en-US" altLang="ko-KR"/>
              <a:t>. </a:t>
            </a:r>
            <a:r>
              <a:rPr lang="ko-KR" altLang="en-US"/>
              <a:t>다음 단계로는 방향 그래프로 다시 분석하고</a:t>
            </a:r>
            <a:r>
              <a:rPr lang="en-US" altLang="ko-KR"/>
              <a:t>, </a:t>
            </a:r>
            <a:r>
              <a:rPr lang="ko-KR" altLang="en-US"/>
              <a:t>여러 분할과 시드로 반복하면서 검증 집합으로 </a:t>
            </a:r>
            <a:r>
              <a:rPr lang="en-US" altLang="ko-KR"/>
              <a:t>p, q, α</a:t>
            </a:r>
            <a:r>
              <a:rPr lang="ko-KR" altLang="en-US"/>
              <a:t>를 고르려고 합니다</a:t>
            </a:r>
            <a:r>
              <a:rPr lang="en-US" altLang="ko-KR"/>
              <a:t>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83AB-F185-431B-9B8E-1CD32311317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10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EF1F7-FAC1-72B3-5AA1-7DCBD9943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84778D-05F7-4E50-EAC7-66D568AD2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E72D3-34FC-AA41-A986-3CB38547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892F1-3126-9BD2-35D2-A4279C9C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B8BED-C2B3-021E-E29B-95B0F2C5A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37CD-33A4-0869-02AC-4375F89D7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6E3DB-F91C-6580-CAC0-C59BE9CD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56ED6-AE01-556E-174B-C08880C6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A80264-DA96-8DC9-8FAF-402C9324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DD14F-49AC-3C5F-DFF0-A9F75AD6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37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ABEDE-930A-C2E0-DFC7-C8CC33F6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AAAE2A-8948-FDDB-A061-98322FCF0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F6A3F-35A7-A4D3-0E21-F95868CB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8C4FB-33CE-3141-5047-A96B61E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57BF04-709D-3C5F-E7C0-7C22A796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7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4D5AA-81EE-1B7A-5C97-3F89CDF1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185AF-164C-A3F0-81F4-051B7F14A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B5EF57-0B8A-BB38-CB21-A7727B300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2BD0DB-B3E9-3A72-8BED-FA999900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BC1FE7-FAFC-7DF4-C820-7C9C67AB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D57C25-8602-6919-8094-91EB78AB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26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2C233-C3FA-FDF0-BD1D-DFE35C06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7391F-A163-CE34-7A81-C548889E0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C8C14-8F78-E159-667F-5CA3E9812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90985A-B000-2CA8-05A4-72FA97DFB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6362DC-BD65-4187-68C1-1859845CB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10D4E6-E247-68F7-7C94-B96B8018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AC78C4-2D6A-A312-0EF5-E38BE189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BA5360-9E3A-FDB8-9770-9698110F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90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4CEFF-DC02-813D-6A69-8D222DDD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C9B446-5AFF-718A-742F-AF9F2792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C80D50-FB12-95D5-5D44-B5CE19CF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B49AE5-84D3-51BC-3910-EAD4165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82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0CE5D7-F7E6-5418-B3EF-C69FC58D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12A9E8-91D6-33C8-2B5A-679D480B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A5AD5-2703-0300-93D9-2F90BF87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99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07BAA-AB5B-3C05-8646-94EA99BA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FE124-3AE9-BC6E-9B90-45BEBE71A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FCB64D-100E-0828-9717-9A889751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2900D5-65EE-0D20-C035-73E334A3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6152E3-A601-D4D2-1AF0-4221B760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BC1491-41F6-96BC-6598-0973EE73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1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2A620-8250-018C-58EE-730B3B1F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9CCC33-F107-4808-D712-DB168CCA4F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7572A-5F76-3454-D570-412E7BDB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04C7B-DC27-3E1A-C243-8288E675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E228F0-205A-75CF-8552-4416A6DC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2A74AD-B6C1-AD43-3B25-9337491E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00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C2027-7D8B-7FD9-9391-5B22EF11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5CE49C-1BA5-8DF2-B1DA-AB2516659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F572E-C9D2-A16E-9F18-02F1A029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55CB60-CD77-CAE7-2D76-8A5DFEAB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408F9-99B2-3BEA-FDDF-3D29B5FC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56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8488E4-FF05-222B-E1C7-7F857B861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6C2CC1-F91F-2E54-4925-2CC5E22F7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85DE7-E2C5-8A8B-DFF9-BCF1AF5C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6BBDDD-5890-791A-687C-90AE01CB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A8D07-7927-02BA-D8A1-06D808FF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97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86B15C-4B3E-7653-B2F6-2820E62F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6B753-E72E-341C-1F4C-652DB4DF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A81DF8-EF8B-8FEE-481E-89F8D7455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E3282-6649-466A-831A-89CC55B996F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B7894-38E0-2027-7916-81775102E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719BF-D92C-274A-A57A-D54A35C87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8DFD1-E9DF-4CED-B539-E78C2BF128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829E95A-3A5B-472C-8CD2-E45659B0B9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6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3914E6-F61D-1045-5267-D5048EF42A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2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6D2CB4-42DE-F505-D31C-1F9DE861EA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6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CCAF3E-493D-E076-80ED-6D04CEF459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8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77C5B5-B7A1-4D0A-A5DB-45E42218AE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4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04DD0A-A8C9-D955-9D57-FEAAC0A7FAE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70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DCEA7F-BA79-2207-C34F-26696F307CE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9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29C2AA-E50B-2790-4C22-7484A3290EA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D4785F2-774B-FCB5-660A-73E0ABA5D0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1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DC256D-F8EB-F1C9-2D9F-4D165327D1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3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5CA9B9-6EB6-E965-23BB-F626AD60B5D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4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Office PowerPoint</Application>
  <PresentationFormat>自定义</PresentationFormat>
  <Paragraphs>25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佳升 阮</dc:creator>
  <cp:lastModifiedBy>佳升 阮</cp:lastModifiedBy>
  <cp:revision>1</cp:revision>
  <dcterms:created xsi:type="dcterms:W3CDTF">2026-10-25T07:24:17Z</dcterms:created>
  <dcterms:modified xsi:type="dcterms:W3CDTF">2026-10-25T07:24:17Z</dcterms:modified>
</cp:coreProperties>
</file>